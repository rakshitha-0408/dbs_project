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0" r:id="rId20"/>
    <p:sldId id="281" r:id="rId21"/>
    <p:sldId id="282" r:id="rId22"/>
    <p:sldId id="28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200" b="1" i="0">
                <a:solidFill>
                  <a:srgbClr val="40349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40349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3784" y="4722865"/>
            <a:ext cx="3814215" cy="556413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200" b="1" i="0">
                <a:solidFill>
                  <a:srgbClr val="40349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40349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200" b="1" i="0">
                <a:solidFill>
                  <a:srgbClr val="40349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200" b="1" i="0">
                <a:solidFill>
                  <a:srgbClr val="40349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473784" y="4722865"/>
            <a:ext cx="3814215" cy="556413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3810190" cy="556212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02612" y="633380"/>
            <a:ext cx="14682774" cy="1584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200" b="1" i="0">
                <a:solidFill>
                  <a:srgbClr val="40349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30543" y="2547040"/>
            <a:ext cx="12827000" cy="7196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40349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10190" cy="556212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270886" y="1600727"/>
            <a:ext cx="9745980" cy="20059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000" spc="760" dirty="0"/>
              <a:t>EVENTEASE</a:t>
            </a:r>
            <a:endParaRPr sz="13000" dirty="0"/>
          </a:p>
        </p:txBody>
      </p:sp>
      <p:sp>
        <p:nvSpPr>
          <p:cNvPr id="6" name="object 6"/>
          <p:cNvSpPr txBox="1"/>
          <p:nvPr/>
        </p:nvSpPr>
        <p:spPr>
          <a:xfrm>
            <a:off x="2207384" y="4847506"/>
            <a:ext cx="13873480" cy="182943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2591435" marR="5080" indent="-2579370">
              <a:lnSpc>
                <a:spcPts val="6530"/>
              </a:lnSpc>
              <a:spcBef>
                <a:spcPts val="1275"/>
              </a:spcBef>
            </a:pPr>
            <a:r>
              <a:rPr sz="6400" b="1" spc="165" dirty="0">
                <a:solidFill>
                  <a:srgbClr val="40349E"/>
                </a:solidFill>
                <a:latin typeface="Trebuchet MS"/>
                <a:cs typeface="Trebuchet MS"/>
              </a:rPr>
              <a:t>Event</a:t>
            </a:r>
            <a:r>
              <a:rPr sz="6400" b="1" spc="4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260" dirty="0">
                <a:solidFill>
                  <a:srgbClr val="40349E"/>
                </a:solidFill>
                <a:latin typeface="Trebuchet MS"/>
                <a:cs typeface="Trebuchet MS"/>
              </a:rPr>
              <a:t>Management</a:t>
            </a:r>
            <a:r>
              <a:rPr sz="6400" b="1" spc="4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225" dirty="0">
                <a:solidFill>
                  <a:srgbClr val="40349E"/>
                </a:solidFill>
                <a:latin typeface="Trebuchet MS"/>
                <a:cs typeface="Trebuchet MS"/>
              </a:rPr>
              <a:t>Mobile</a:t>
            </a:r>
            <a:r>
              <a:rPr sz="6400" b="1" spc="4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250" dirty="0">
                <a:solidFill>
                  <a:srgbClr val="40349E"/>
                </a:solidFill>
                <a:latin typeface="Trebuchet MS"/>
                <a:cs typeface="Trebuchet MS"/>
              </a:rPr>
              <a:t>App</a:t>
            </a:r>
            <a:r>
              <a:rPr sz="6400" b="1" spc="4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90" dirty="0">
                <a:solidFill>
                  <a:srgbClr val="40349E"/>
                </a:solidFill>
                <a:latin typeface="Trebuchet MS"/>
                <a:cs typeface="Trebuchet MS"/>
              </a:rPr>
              <a:t>for </a:t>
            </a:r>
            <a:r>
              <a:rPr sz="6400" b="1" spc="130" dirty="0">
                <a:solidFill>
                  <a:srgbClr val="40349E"/>
                </a:solidFill>
                <a:latin typeface="Trebuchet MS"/>
                <a:cs typeface="Trebuchet MS"/>
              </a:rPr>
              <a:t>Attendee</a:t>
            </a:r>
            <a:r>
              <a:rPr sz="6400" b="1" spc="4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295" dirty="0">
                <a:solidFill>
                  <a:srgbClr val="40349E"/>
                </a:solidFill>
                <a:latin typeface="Trebuchet MS"/>
                <a:cs typeface="Trebuchet MS"/>
              </a:rPr>
              <a:t>Self</a:t>
            </a:r>
            <a:r>
              <a:rPr sz="6400" b="1" spc="50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140" dirty="0">
                <a:solidFill>
                  <a:srgbClr val="40349E"/>
                </a:solidFill>
                <a:latin typeface="Trebuchet MS"/>
                <a:cs typeface="Trebuchet MS"/>
              </a:rPr>
              <a:t>Service</a:t>
            </a:r>
            <a:endParaRPr sz="6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2624" y="8472551"/>
            <a:ext cx="5824855" cy="145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60"/>
              </a:lnSpc>
              <a:spcBef>
                <a:spcPts val="100"/>
              </a:spcBef>
            </a:pPr>
            <a:r>
              <a:rPr sz="3500" b="1" dirty="0">
                <a:solidFill>
                  <a:srgbClr val="40349E"/>
                </a:solidFill>
                <a:latin typeface="Trebuchet MS"/>
                <a:cs typeface="Trebuchet MS"/>
              </a:rPr>
              <a:t>2520090212-</a:t>
            </a:r>
            <a:r>
              <a:rPr sz="3500" b="1" spc="24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3500" b="1" spc="220" dirty="0">
                <a:solidFill>
                  <a:srgbClr val="40349E"/>
                </a:solidFill>
                <a:latin typeface="Trebuchet MS"/>
                <a:cs typeface="Trebuchet MS"/>
              </a:rPr>
              <a:t>J</a:t>
            </a:r>
            <a:r>
              <a:rPr sz="3500" b="1" spc="24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3500" b="1" spc="120" dirty="0">
                <a:solidFill>
                  <a:srgbClr val="40349E"/>
                </a:solidFill>
                <a:latin typeface="Trebuchet MS"/>
                <a:cs typeface="Trebuchet MS"/>
              </a:rPr>
              <a:t>Rakshitha</a:t>
            </a:r>
            <a:endParaRPr sz="3500">
              <a:latin typeface="Trebuchet MS"/>
              <a:cs typeface="Trebuchet MS"/>
            </a:endParaRPr>
          </a:p>
          <a:p>
            <a:pPr marL="12700">
              <a:lnSpc>
                <a:spcPts val="3525"/>
              </a:lnSpc>
            </a:pPr>
            <a:r>
              <a:rPr sz="3500" b="1" spc="55" dirty="0">
                <a:solidFill>
                  <a:srgbClr val="40349E"/>
                </a:solidFill>
                <a:latin typeface="Trebuchet MS"/>
                <a:cs typeface="Trebuchet MS"/>
              </a:rPr>
              <a:t>2520090214-</a:t>
            </a:r>
            <a:r>
              <a:rPr sz="3500" b="1" spc="2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3500" b="1" spc="229" dirty="0">
                <a:solidFill>
                  <a:srgbClr val="40349E"/>
                </a:solidFill>
                <a:latin typeface="Trebuchet MS"/>
                <a:cs typeface="Trebuchet MS"/>
              </a:rPr>
              <a:t>N</a:t>
            </a:r>
            <a:r>
              <a:rPr sz="3500" b="1" spc="2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3500" b="1" spc="114" dirty="0">
                <a:solidFill>
                  <a:srgbClr val="40349E"/>
                </a:solidFill>
                <a:latin typeface="Trebuchet MS"/>
                <a:cs typeface="Trebuchet MS"/>
              </a:rPr>
              <a:t>Charishma</a:t>
            </a:r>
            <a:endParaRPr sz="3500">
              <a:latin typeface="Trebuchet MS"/>
              <a:cs typeface="Trebuchet MS"/>
            </a:endParaRPr>
          </a:p>
          <a:p>
            <a:pPr marL="12700">
              <a:lnSpc>
                <a:spcPts val="3865"/>
              </a:lnSpc>
            </a:pPr>
            <a:r>
              <a:rPr sz="3500" b="1" spc="114" dirty="0">
                <a:solidFill>
                  <a:srgbClr val="40349E"/>
                </a:solidFill>
                <a:latin typeface="Trebuchet MS"/>
                <a:cs typeface="Trebuchet MS"/>
              </a:rPr>
              <a:t>2520090067-</a:t>
            </a:r>
            <a:r>
              <a:rPr sz="3500" b="1" spc="4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3500" b="1" spc="160" dirty="0">
                <a:solidFill>
                  <a:srgbClr val="40349E"/>
                </a:solidFill>
                <a:latin typeface="Trebuchet MS"/>
                <a:cs typeface="Trebuchet MS"/>
              </a:rPr>
              <a:t>Sahasra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94406" y="8293247"/>
            <a:ext cx="709739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50" dirty="0">
                <a:solidFill>
                  <a:srgbClr val="40349E"/>
                </a:solidFill>
                <a:latin typeface="Tahoma"/>
                <a:cs typeface="Tahoma"/>
              </a:rPr>
              <a:t>Events</a:t>
            </a:r>
            <a:r>
              <a:rPr sz="4000" spc="-2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000" spc="80" dirty="0">
                <a:solidFill>
                  <a:srgbClr val="40349E"/>
                </a:solidFill>
                <a:latin typeface="Tahoma"/>
                <a:cs typeface="Tahoma"/>
              </a:rPr>
              <a:t>Made</a:t>
            </a:r>
            <a:r>
              <a:rPr sz="4000" spc="-2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000" spc="95" dirty="0">
                <a:solidFill>
                  <a:srgbClr val="40349E"/>
                </a:solidFill>
                <a:latin typeface="Tahoma"/>
                <a:cs typeface="Tahoma"/>
              </a:rPr>
              <a:t>Simple</a:t>
            </a:r>
            <a:r>
              <a:rPr sz="4000" spc="-2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0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4000" spc="-2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000" spc="40" dirty="0">
                <a:solidFill>
                  <a:srgbClr val="40349E"/>
                </a:solidFill>
                <a:latin typeface="Tahoma"/>
                <a:cs typeface="Tahoma"/>
              </a:rPr>
              <a:t>Smart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55461" y="9239250"/>
            <a:ext cx="8194675" cy="0"/>
          </a:xfrm>
          <a:custGeom>
            <a:avLst/>
            <a:gdLst/>
            <a:ahLst/>
            <a:cxnLst/>
            <a:rect l="l" t="t" r="r" b="b"/>
            <a:pathLst>
              <a:path w="8194675">
                <a:moveTo>
                  <a:pt x="0" y="0"/>
                </a:moveTo>
                <a:lnTo>
                  <a:pt x="8194179" y="0"/>
                </a:lnTo>
              </a:path>
            </a:pathLst>
          </a:custGeom>
          <a:ln w="38099">
            <a:solidFill>
              <a:srgbClr val="4034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5811"/>
            <a:ext cx="3393695" cy="19370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10190" cy="556212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695353" y="782735"/>
            <a:ext cx="6897370" cy="1584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80" dirty="0"/>
              <a:t>ABSTRACT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1290" y="2722978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1290" y="4123153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1290" y="5056603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1290" y="5990053"/>
            <a:ext cx="152400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1290" y="7390227"/>
            <a:ext cx="152400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1290" y="8323677"/>
            <a:ext cx="152400" cy="1523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247563" y="2510920"/>
            <a:ext cx="13303885" cy="6595109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450"/>
              </a:spcBef>
            </a:pP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Traditional</a:t>
            </a:r>
            <a:r>
              <a:rPr sz="33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3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management</a:t>
            </a:r>
            <a:r>
              <a:rPr sz="3300" spc="-11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often</a:t>
            </a:r>
            <a:r>
              <a:rPr sz="33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requires</a:t>
            </a:r>
            <a:r>
              <a:rPr sz="3300" spc="-11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sz="33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3300" spc="-11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depend</a:t>
            </a:r>
            <a:r>
              <a:rPr sz="33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25" dirty="0">
                <a:solidFill>
                  <a:srgbClr val="40349E"/>
                </a:solidFill>
                <a:latin typeface="Tahoma"/>
                <a:cs typeface="Tahoma"/>
              </a:rPr>
              <a:t>on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organizers</a:t>
            </a:r>
            <a:r>
              <a:rPr sz="3300" spc="-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or</a:t>
            </a:r>
            <a:r>
              <a:rPr sz="3300" spc="-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volunteers</a:t>
            </a:r>
            <a:r>
              <a:rPr sz="3300" spc="-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300" spc="-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registration,</a:t>
            </a:r>
            <a:r>
              <a:rPr sz="3300" spc="-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schedules,</a:t>
            </a:r>
            <a:r>
              <a:rPr sz="3300" spc="-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venue</a:t>
            </a:r>
            <a:r>
              <a:rPr sz="3300" spc="-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information,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announcements.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ts val="3445"/>
              </a:lnSpc>
            </a:pP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This</a:t>
            </a:r>
            <a:r>
              <a:rPr sz="33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dependency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can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40349E"/>
                </a:solidFill>
                <a:latin typeface="Tahoma"/>
                <a:cs typeface="Tahoma"/>
              </a:rPr>
              <a:t>result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in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long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queues,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repeated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queries,</a:t>
            </a:r>
            <a:endParaRPr sz="3300">
              <a:latin typeface="Tahoma"/>
              <a:cs typeface="Tahoma"/>
            </a:endParaRPr>
          </a:p>
          <a:p>
            <a:pPr marL="12700" marR="61594" algn="just">
              <a:lnSpc>
                <a:spcPts val="3679"/>
              </a:lnSpc>
              <a:spcBef>
                <a:spcPts val="215"/>
              </a:spcBef>
            </a:pP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communication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gaps,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difficulty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in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managing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45" dirty="0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information.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EventEase</a:t>
            </a:r>
            <a:r>
              <a:rPr sz="33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90" dirty="0">
                <a:solidFill>
                  <a:srgbClr val="40349E"/>
                </a:solidFill>
                <a:latin typeface="Tahoma"/>
                <a:cs typeface="Tahoma"/>
              </a:rPr>
              <a:t>is</a:t>
            </a:r>
            <a:r>
              <a:rPr sz="33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75" dirty="0">
                <a:solidFill>
                  <a:srgbClr val="40349E"/>
                </a:solidFill>
                <a:latin typeface="Tahoma"/>
                <a:cs typeface="Tahoma"/>
              </a:rPr>
              <a:t>mobile</a:t>
            </a:r>
            <a:r>
              <a:rPr sz="33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80" dirty="0">
                <a:solidFill>
                  <a:srgbClr val="40349E"/>
                </a:solidFill>
                <a:latin typeface="Tahoma"/>
                <a:cs typeface="Tahoma"/>
              </a:rPr>
              <a:t>self-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service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platform</a:t>
            </a:r>
            <a:r>
              <a:rPr sz="33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45" dirty="0">
                <a:solidFill>
                  <a:srgbClr val="40349E"/>
                </a:solidFill>
                <a:latin typeface="Tahoma"/>
                <a:cs typeface="Tahoma"/>
              </a:rPr>
              <a:t>designed</a:t>
            </a:r>
            <a:r>
              <a:rPr sz="33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give</a:t>
            </a:r>
            <a:r>
              <a:rPr sz="33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45" dirty="0">
                <a:solidFill>
                  <a:srgbClr val="40349E"/>
                </a:solidFill>
                <a:latin typeface="Tahoma"/>
                <a:cs typeface="Tahoma"/>
              </a:rPr>
              <a:t>attendees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independent</a:t>
            </a:r>
            <a:r>
              <a:rPr sz="3300" spc="-1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convenient</a:t>
            </a:r>
            <a:r>
              <a:rPr sz="33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90" dirty="0">
                <a:solidFill>
                  <a:srgbClr val="40349E"/>
                </a:solidFill>
                <a:latin typeface="Tahoma"/>
                <a:cs typeface="Tahoma"/>
              </a:rPr>
              <a:t>access</a:t>
            </a:r>
            <a:r>
              <a:rPr sz="33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3300" spc="-1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3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services.</a:t>
            </a:r>
            <a:endParaRPr sz="3300">
              <a:latin typeface="Tahoma"/>
              <a:cs typeface="Tahoma"/>
            </a:endParaRPr>
          </a:p>
          <a:p>
            <a:pPr marL="12700" algn="just">
              <a:lnSpc>
                <a:spcPts val="3445"/>
              </a:lnSpc>
            </a:pPr>
            <a:r>
              <a:rPr sz="3300" spc="65" dirty="0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sz="33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can</a:t>
            </a:r>
            <a:r>
              <a:rPr sz="33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create</a:t>
            </a:r>
            <a:r>
              <a:rPr sz="33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accounts,</a:t>
            </a:r>
            <a:r>
              <a:rPr sz="33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40349E"/>
                </a:solidFill>
                <a:latin typeface="Tahoma"/>
                <a:cs typeface="Tahoma"/>
              </a:rPr>
              <a:t>browse</a:t>
            </a:r>
            <a:r>
              <a:rPr sz="33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register</a:t>
            </a:r>
            <a:r>
              <a:rPr sz="33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3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events,</a:t>
            </a:r>
            <a:r>
              <a:rPr sz="33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20" dirty="0">
                <a:solidFill>
                  <a:srgbClr val="40349E"/>
                </a:solidFill>
                <a:latin typeface="Tahoma"/>
                <a:cs typeface="Tahoma"/>
              </a:rPr>
              <a:t>view</a:t>
            </a:r>
            <a:endParaRPr sz="3300">
              <a:latin typeface="Tahoma"/>
              <a:cs typeface="Tahoma"/>
            </a:endParaRPr>
          </a:p>
          <a:p>
            <a:pPr marL="12700" marR="827405">
              <a:lnSpc>
                <a:spcPts val="3679"/>
              </a:lnSpc>
              <a:spcBef>
                <a:spcPts val="210"/>
              </a:spcBef>
            </a:pP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schedules,</a:t>
            </a:r>
            <a:r>
              <a:rPr sz="33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90" dirty="0">
                <a:solidFill>
                  <a:srgbClr val="40349E"/>
                </a:solidFill>
                <a:latin typeface="Tahoma"/>
                <a:cs typeface="Tahoma"/>
              </a:rPr>
              <a:t>select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or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track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sessions,</a:t>
            </a:r>
            <a:r>
              <a:rPr sz="33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90" dirty="0">
                <a:solidFill>
                  <a:srgbClr val="40349E"/>
                </a:solidFill>
                <a:latin typeface="Tahoma"/>
                <a:cs typeface="Tahoma"/>
              </a:rPr>
              <a:t>access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venue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speaker </a:t>
            </a:r>
            <a:r>
              <a:rPr sz="3300" spc="35" dirty="0">
                <a:solidFill>
                  <a:srgbClr val="40349E"/>
                </a:solidFill>
                <a:latin typeface="Tahoma"/>
                <a:cs typeface="Tahoma"/>
              </a:rPr>
              <a:t>details.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ts val="3450"/>
              </a:lnSpc>
            </a:pP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40349E"/>
                </a:solidFill>
                <a:latin typeface="Tahoma"/>
                <a:cs typeface="Tahoma"/>
              </a:rPr>
              <a:t>system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centrally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manages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attendee,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event,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session,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registration,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ts val="3675"/>
              </a:lnSpc>
            </a:pP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venue,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speaker,</a:t>
            </a:r>
            <a:r>
              <a:rPr sz="3300" spc="-1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45" dirty="0">
                <a:solidFill>
                  <a:srgbClr val="40349E"/>
                </a:solidFill>
                <a:latin typeface="Tahoma"/>
                <a:cs typeface="Tahoma"/>
              </a:rPr>
              <a:t>notification</a:t>
            </a:r>
            <a:r>
              <a:rPr sz="3300" spc="-1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data.</a:t>
            </a:r>
            <a:endParaRPr sz="3300">
              <a:latin typeface="Tahoma"/>
              <a:cs typeface="Tahoma"/>
            </a:endParaRPr>
          </a:p>
          <a:p>
            <a:pPr marL="12700" marR="33655">
              <a:lnSpc>
                <a:spcPts val="3679"/>
              </a:lnSpc>
              <a:spcBef>
                <a:spcPts val="215"/>
              </a:spcBef>
            </a:pP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main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goal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90" dirty="0">
                <a:solidFill>
                  <a:srgbClr val="40349E"/>
                </a:solidFill>
                <a:latin typeface="Tahoma"/>
                <a:cs typeface="Tahoma"/>
              </a:rPr>
              <a:t>is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reduce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manual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40349E"/>
                </a:solidFill>
                <a:latin typeface="Tahoma"/>
                <a:cs typeface="Tahoma"/>
              </a:rPr>
              <a:t>workload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organizers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provide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with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faster,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organized,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independent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services.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93987" y="9277350"/>
            <a:ext cx="9610090" cy="0"/>
          </a:xfrm>
          <a:custGeom>
            <a:avLst/>
            <a:gdLst/>
            <a:ahLst/>
            <a:cxnLst/>
            <a:rect l="l" t="t" r="r" b="b"/>
            <a:pathLst>
              <a:path w="9610090">
                <a:moveTo>
                  <a:pt x="0" y="0"/>
                </a:moveTo>
                <a:lnTo>
                  <a:pt x="9609888" y="0"/>
                </a:lnTo>
              </a:path>
            </a:pathLst>
          </a:custGeom>
          <a:ln w="38099">
            <a:solidFill>
              <a:srgbClr val="4034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2" y="-1"/>
            <a:ext cx="2879167" cy="15126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10190" cy="556212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843646" y="928672"/>
            <a:ext cx="14681200" cy="1584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710" dirty="0"/>
              <a:t>PROBLEM</a:t>
            </a:r>
            <a:r>
              <a:rPr spc="75" dirty="0"/>
              <a:t> </a:t>
            </a:r>
            <a:r>
              <a:rPr spc="640" dirty="0"/>
              <a:t>STATEMENT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308088" y="3336060"/>
            <a:ext cx="152400" cy="1552575"/>
            <a:chOff x="2308088" y="3336060"/>
            <a:chExt cx="152400" cy="155257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8088" y="3336060"/>
              <a:ext cx="152400" cy="152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8088" y="3802785"/>
              <a:ext cx="152400" cy="152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8088" y="4736235"/>
              <a:ext cx="152400" cy="15239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8088" y="5669685"/>
            <a:ext cx="152400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8088" y="6603135"/>
            <a:ext cx="152400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8088" y="7536585"/>
            <a:ext cx="152400" cy="1523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654361" y="3124002"/>
            <a:ext cx="11799570" cy="519493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450"/>
              </a:spcBef>
            </a:pPr>
            <a:r>
              <a:rPr sz="3300" spc="65" dirty="0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sz="33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often</a:t>
            </a:r>
            <a:r>
              <a:rPr sz="33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depend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on</a:t>
            </a:r>
            <a:r>
              <a:rPr sz="33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organizers</a:t>
            </a:r>
            <a:r>
              <a:rPr sz="33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75" dirty="0">
                <a:solidFill>
                  <a:srgbClr val="40349E"/>
                </a:solidFill>
                <a:latin typeface="Tahoma"/>
                <a:cs typeface="Tahoma"/>
              </a:rPr>
              <a:t>basic</a:t>
            </a:r>
            <a:r>
              <a:rPr sz="33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services.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Manual</a:t>
            </a:r>
            <a:r>
              <a:rPr sz="3300" spc="-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registration</a:t>
            </a:r>
            <a:r>
              <a:rPr sz="3300" spc="-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information</a:t>
            </a:r>
            <a:r>
              <a:rPr sz="3300" spc="-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sharing</a:t>
            </a:r>
            <a:r>
              <a:rPr sz="3300" spc="-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can</a:t>
            </a:r>
            <a:r>
              <a:rPr sz="3300" spc="-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40349E"/>
                </a:solidFill>
                <a:latin typeface="Tahoma"/>
                <a:cs typeface="Tahoma"/>
              </a:rPr>
              <a:t>cause</a:t>
            </a:r>
            <a:r>
              <a:rPr sz="3300" spc="-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delays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long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queues.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ts val="3445"/>
              </a:lnSpc>
            </a:pP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Repeated</a:t>
            </a:r>
            <a:r>
              <a:rPr sz="33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queries</a:t>
            </a:r>
            <a:r>
              <a:rPr sz="33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about</a:t>
            </a:r>
            <a:r>
              <a:rPr sz="33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schedules,</a:t>
            </a:r>
            <a:r>
              <a:rPr sz="33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venues,</a:t>
            </a:r>
            <a:r>
              <a:rPr sz="33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speakers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ts val="3675"/>
              </a:lnSpc>
            </a:pP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increase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organizer</a:t>
            </a:r>
            <a:r>
              <a:rPr sz="33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workload.</a:t>
            </a:r>
            <a:endParaRPr sz="3300">
              <a:latin typeface="Tahoma"/>
              <a:cs typeface="Tahoma"/>
            </a:endParaRPr>
          </a:p>
          <a:p>
            <a:pPr marL="12700" marR="1901825">
              <a:lnSpc>
                <a:spcPts val="3679"/>
              </a:lnSpc>
              <a:spcBef>
                <a:spcPts val="215"/>
              </a:spcBef>
            </a:pPr>
            <a:r>
              <a:rPr sz="3300" spc="45" dirty="0">
                <a:solidFill>
                  <a:srgbClr val="40349E"/>
                </a:solidFill>
                <a:latin typeface="Tahoma"/>
                <a:cs typeface="Tahoma"/>
              </a:rPr>
              <a:t>Communication</a:t>
            </a:r>
            <a:r>
              <a:rPr sz="33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gaps</a:t>
            </a:r>
            <a:r>
              <a:rPr sz="3300" spc="-1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may</a:t>
            </a:r>
            <a:r>
              <a:rPr sz="33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40349E"/>
                </a:solidFill>
                <a:latin typeface="Tahoma"/>
                <a:cs typeface="Tahoma"/>
              </a:rPr>
              <a:t>occur</a:t>
            </a:r>
            <a:r>
              <a:rPr sz="3300" spc="-1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when</a:t>
            </a:r>
            <a:r>
              <a:rPr sz="3300" spc="-1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organizers</a:t>
            </a:r>
            <a:r>
              <a:rPr sz="33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25" dirty="0">
                <a:solidFill>
                  <a:srgbClr val="40349E"/>
                </a:solidFill>
                <a:latin typeface="Tahoma"/>
                <a:cs typeface="Tahoma"/>
              </a:rPr>
              <a:t>are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unavailable.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ts val="3450"/>
              </a:lnSpc>
            </a:pP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Seat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40349E"/>
                </a:solidFill>
                <a:latin typeface="Tahoma"/>
                <a:cs typeface="Tahoma"/>
              </a:rPr>
              <a:t>allocation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registration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status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can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40349E"/>
                </a:solidFill>
                <a:latin typeface="Tahoma"/>
                <a:cs typeface="Tahoma"/>
              </a:rPr>
              <a:t>be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difficult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25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ts val="3675"/>
              </a:lnSpc>
            </a:pP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manage</a:t>
            </a:r>
            <a:r>
              <a:rPr sz="33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manually.</a:t>
            </a:r>
            <a:endParaRPr sz="3300">
              <a:latin typeface="Tahoma"/>
              <a:cs typeface="Tahoma"/>
            </a:endParaRPr>
          </a:p>
          <a:p>
            <a:pPr marL="12700" marR="1049020">
              <a:lnSpc>
                <a:spcPts val="3679"/>
              </a:lnSpc>
              <a:spcBef>
                <a:spcPts val="210"/>
              </a:spcBef>
            </a:pPr>
            <a:r>
              <a:rPr sz="3300" spc="114" dirty="0">
                <a:solidFill>
                  <a:srgbClr val="40349E"/>
                </a:solidFill>
                <a:latin typeface="Tahoma"/>
                <a:cs typeface="Tahoma"/>
              </a:rPr>
              <a:t>A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centralized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80" dirty="0">
                <a:solidFill>
                  <a:srgbClr val="40349E"/>
                </a:solidFill>
                <a:latin typeface="Tahoma"/>
                <a:cs typeface="Tahoma"/>
              </a:rPr>
              <a:t>self-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service</a:t>
            </a:r>
            <a:r>
              <a:rPr sz="33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40349E"/>
                </a:solidFill>
                <a:latin typeface="Tahoma"/>
                <a:cs typeface="Tahoma"/>
              </a:rPr>
              <a:t>system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90" dirty="0">
                <a:solidFill>
                  <a:srgbClr val="40349E"/>
                </a:solidFill>
                <a:latin typeface="Tahoma"/>
                <a:cs typeface="Tahoma"/>
              </a:rPr>
              <a:t>is</a:t>
            </a:r>
            <a:r>
              <a:rPr sz="33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needed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3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faster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25" dirty="0">
                <a:solidFill>
                  <a:srgbClr val="40349E"/>
                </a:solidFill>
                <a:latin typeface="Tahoma"/>
                <a:cs typeface="Tahoma"/>
              </a:rPr>
              <a:t>and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organized</a:t>
            </a:r>
            <a:r>
              <a:rPr sz="3300" spc="-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300" spc="-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management.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93987" y="9277350"/>
            <a:ext cx="9610090" cy="0"/>
          </a:xfrm>
          <a:custGeom>
            <a:avLst/>
            <a:gdLst/>
            <a:ahLst/>
            <a:cxnLst/>
            <a:rect l="l" t="t" r="r" b="b"/>
            <a:pathLst>
              <a:path w="9610090">
                <a:moveTo>
                  <a:pt x="0" y="0"/>
                </a:moveTo>
                <a:lnTo>
                  <a:pt x="9609888" y="0"/>
                </a:lnTo>
              </a:path>
            </a:pathLst>
          </a:custGeom>
          <a:ln w="38099">
            <a:solidFill>
              <a:srgbClr val="4034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833" y="11061"/>
            <a:ext cx="2664193" cy="15843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810635" cy="5583555"/>
            <a:chOff x="0" y="0"/>
            <a:chExt cx="3810635" cy="55835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810190" cy="556212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7361" y="4478054"/>
              <a:ext cx="152400" cy="1523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7361" y="4954304"/>
              <a:ext cx="152400" cy="152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7361" y="5430554"/>
              <a:ext cx="152400" cy="15239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012875" y="928672"/>
            <a:ext cx="8262620" cy="1584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470" dirty="0"/>
              <a:t>MOTIVATION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7361" y="5906804"/>
            <a:ext cx="152400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7361" y="6383054"/>
            <a:ext cx="152400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7361" y="6859304"/>
            <a:ext cx="152400" cy="1523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7361" y="7335554"/>
            <a:ext cx="152400" cy="1523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145689" y="4262853"/>
            <a:ext cx="13385800" cy="340042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3618229">
              <a:lnSpc>
                <a:spcPts val="3750"/>
              </a:lnSpc>
              <a:spcBef>
                <a:spcPts val="495"/>
              </a:spcBef>
            </a:pPr>
            <a:r>
              <a:rPr sz="3400" spc="65" dirty="0">
                <a:solidFill>
                  <a:srgbClr val="40349E"/>
                </a:solidFill>
                <a:latin typeface="Tahoma"/>
                <a:cs typeface="Tahoma"/>
              </a:rPr>
              <a:t>Reduce</a:t>
            </a:r>
            <a:r>
              <a:rPr sz="34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dependency</a:t>
            </a:r>
            <a:r>
              <a:rPr sz="34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on</a:t>
            </a:r>
            <a:r>
              <a:rPr sz="34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organizers</a:t>
            </a:r>
            <a:r>
              <a:rPr sz="34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volunteers.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Provide</a:t>
            </a:r>
            <a:r>
              <a:rPr sz="34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sz="3400" spc="-1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with</a:t>
            </a:r>
            <a:r>
              <a:rPr sz="3400" spc="-11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information</a:t>
            </a:r>
            <a:r>
              <a:rPr sz="3400" spc="-1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anytime.</a:t>
            </a:r>
            <a:endParaRPr sz="3400">
              <a:latin typeface="Tahoma"/>
              <a:cs typeface="Tahoma"/>
            </a:endParaRPr>
          </a:p>
          <a:p>
            <a:pPr marL="12700" marR="3219450">
              <a:lnSpc>
                <a:spcPts val="3750"/>
              </a:lnSpc>
            </a:pPr>
            <a:r>
              <a:rPr sz="3400" spc="75" dirty="0">
                <a:solidFill>
                  <a:srgbClr val="40349E"/>
                </a:solidFill>
                <a:latin typeface="Tahoma"/>
                <a:cs typeface="Tahoma"/>
              </a:rPr>
              <a:t>Make</a:t>
            </a:r>
            <a:r>
              <a:rPr sz="3400" spc="-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registration</a:t>
            </a:r>
            <a:r>
              <a:rPr sz="3400" spc="-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faster</a:t>
            </a:r>
            <a:r>
              <a:rPr sz="3400" spc="-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more</a:t>
            </a:r>
            <a:r>
              <a:rPr sz="3400" spc="-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convenient.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Provide</a:t>
            </a:r>
            <a:r>
              <a:rPr sz="3400" spc="-229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automatic</a:t>
            </a:r>
            <a:r>
              <a:rPr sz="3400" spc="-2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seat</a:t>
            </a:r>
            <a:r>
              <a:rPr sz="3400" spc="-2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allocation</a:t>
            </a:r>
            <a:r>
              <a:rPr sz="3400" spc="-2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after</a:t>
            </a:r>
            <a:r>
              <a:rPr sz="3400" spc="-2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confirmation. </a:t>
            </a:r>
            <a:r>
              <a:rPr sz="3400" spc="65" dirty="0">
                <a:solidFill>
                  <a:srgbClr val="40349E"/>
                </a:solidFill>
                <a:latin typeface="Tahoma"/>
                <a:cs typeface="Tahoma"/>
              </a:rPr>
              <a:t>Handle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payments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2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transactions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0" dirty="0">
                <a:solidFill>
                  <a:srgbClr val="40349E"/>
                </a:solidFill>
                <a:latin typeface="Tahoma"/>
                <a:cs typeface="Tahoma"/>
              </a:rPr>
              <a:t>consistently.</a:t>
            </a:r>
            <a:endParaRPr sz="3400">
              <a:latin typeface="Tahoma"/>
              <a:cs typeface="Tahoma"/>
            </a:endParaRPr>
          </a:p>
          <a:p>
            <a:pPr marL="12700" marR="5080">
              <a:lnSpc>
                <a:spcPts val="3750"/>
              </a:lnSpc>
            </a:pPr>
            <a:r>
              <a:rPr sz="3400" spc="100" dirty="0">
                <a:solidFill>
                  <a:srgbClr val="40349E"/>
                </a:solidFill>
                <a:latin typeface="Tahoma"/>
                <a:cs typeface="Tahoma"/>
              </a:rPr>
              <a:t>Allow</a:t>
            </a:r>
            <a:r>
              <a:rPr sz="34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sz="34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34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raise</a:t>
            </a:r>
            <a:r>
              <a:rPr sz="34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0" dirty="0">
                <a:solidFill>
                  <a:srgbClr val="40349E"/>
                </a:solidFill>
                <a:latin typeface="Tahoma"/>
                <a:cs typeface="Tahoma"/>
              </a:rPr>
              <a:t>complaints</a:t>
            </a:r>
            <a:r>
              <a:rPr sz="34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when</a:t>
            </a:r>
            <a:r>
              <a:rPr sz="34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organizers</a:t>
            </a:r>
            <a:r>
              <a:rPr sz="34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are</a:t>
            </a:r>
            <a:r>
              <a:rPr sz="34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unavailable.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Improve</a:t>
            </a:r>
            <a:r>
              <a:rPr sz="34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sz="34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overall</a:t>
            </a:r>
            <a:r>
              <a:rPr sz="3400" spc="-1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4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experience.</a:t>
            </a:r>
            <a:endParaRPr sz="3400">
              <a:latin typeface="Tahoma"/>
              <a:cs typeface="Tahom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"/>
            <a:ext cx="2971801" cy="17145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872229" cy="5562600"/>
            <a:chOff x="0" y="0"/>
            <a:chExt cx="3872229" cy="5562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810190" cy="556212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9435" y="3106870"/>
              <a:ext cx="152400" cy="1523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9435" y="3583119"/>
              <a:ext cx="152400" cy="152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9435" y="4059369"/>
              <a:ext cx="152400" cy="152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9435" y="5011869"/>
              <a:ext cx="152400" cy="152399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092064" y="589883"/>
            <a:ext cx="8103870" cy="1584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00" dirty="0"/>
              <a:t>OBJECTIVES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9435" y="5964370"/>
            <a:ext cx="152400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9435" y="6916870"/>
            <a:ext cx="152400" cy="1523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9435" y="7393120"/>
            <a:ext cx="152400" cy="1523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77764" y="2891668"/>
            <a:ext cx="10038715" cy="482917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495"/>
              </a:spcBef>
            </a:pP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Develop</a:t>
            </a:r>
            <a:r>
              <a:rPr sz="34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</a:t>
            </a:r>
            <a:r>
              <a:rPr sz="34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centralized</a:t>
            </a:r>
            <a:r>
              <a:rPr sz="34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4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management</a:t>
            </a:r>
            <a:r>
              <a:rPr sz="34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database. </a:t>
            </a:r>
            <a:r>
              <a:rPr sz="3400" spc="100" dirty="0">
                <a:solidFill>
                  <a:srgbClr val="40349E"/>
                </a:solidFill>
                <a:latin typeface="Tahoma"/>
                <a:cs typeface="Tahoma"/>
              </a:rPr>
              <a:t>Allow</a:t>
            </a:r>
            <a:r>
              <a:rPr sz="34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sz="34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34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5" dirty="0">
                <a:solidFill>
                  <a:srgbClr val="40349E"/>
                </a:solidFill>
                <a:latin typeface="Tahoma"/>
                <a:cs typeface="Tahoma"/>
              </a:rPr>
              <a:t>browse</a:t>
            </a:r>
            <a:r>
              <a:rPr sz="34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register</a:t>
            </a:r>
            <a:r>
              <a:rPr sz="34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4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events.</a:t>
            </a:r>
            <a:endParaRPr sz="3400">
              <a:latin typeface="Tahoma"/>
              <a:cs typeface="Tahoma"/>
            </a:endParaRPr>
          </a:p>
          <a:p>
            <a:pPr marL="12700" marR="814705">
              <a:lnSpc>
                <a:spcPts val="3750"/>
              </a:lnSpc>
            </a:pP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Provide</a:t>
            </a:r>
            <a:r>
              <a:rPr sz="3400" spc="-229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5" dirty="0">
                <a:solidFill>
                  <a:srgbClr val="40349E"/>
                </a:solidFill>
                <a:latin typeface="Tahoma"/>
                <a:cs typeface="Tahoma"/>
              </a:rPr>
              <a:t>schedules,</a:t>
            </a:r>
            <a:r>
              <a:rPr sz="3400" spc="-2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session,</a:t>
            </a:r>
            <a:r>
              <a:rPr sz="3400" spc="-2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venue,</a:t>
            </a:r>
            <a:r>
              <a:rPr sz="3400" spc="-2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2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speaker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information.</a:t>
            </a:r>
            <a:endParaRPr sz="3400">
              <a:latin typeface="Tahoma"/>
              <a:cs typeface="Tahoma"/>
            </a:endParaRPr>
          </a:p>
          <a:p>
            <a:pPr marL="12700" marR="1967864">
              <a:lnSpc>
                <a:spcPts val="3750"/>
              </a:lnSpc>
            </a:pPr>
            <a:r>
              <a:rPr sz="3400" spc="90" dirty="0">
                <a:solidFill>
                  <a:srgbClr val="40349E"/>
                </a:solidFill>
                <a:latin typeface="Tahoma"/>
                <a:cs typeface="Tahoma"/>
              </a:rPr>
              <a:t>Process</a:t>
            </a:r>
            <a:r>
              <a:rPr sz="3400" spc="-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registrations</a:t>
            </a:r>
            <a:r>
              <a:rPr sz="3400" spc="-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payments</a:t>
            </a:r>
            <a:r>
              <a:rPr sz="3400" spc="-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using transactions.</a:t>
            </a:r>
            <a:endParaRPr sz="3400">
              <a:latin typeface="Tahoma"/>
              <a:cs typeface="Tahoma"/>
            </a:endParaRPr>
          </a:p>
          <a:p>
            <a:pPr marL="12700" marR="1393825">
              <a:lnSpc>
                <a:spcPts val="3750"/>
              </a:lnSpc>
            </a:pP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Automatically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0" dirty="0">
                <a:solidFill>
                  <a:srgbClr val="40349E"/>
                </a:solidFill>
                <a:latin typeface="Tahoma"/>
                <a:cs typeface="Tahoma"/>
              </a:rPr>
              <a:t>allocate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5" dirty="0">
                <a:solidFill>
                  <a:srgbClr val="40349E"/>
                </a:solidFill>
                <a:latin typeface="Tahoma"/>
                <a:cs typeface="Tahoma"/>
              </a:rPr>
              <a:t>seats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after</a:t>
            </a:r>
            <a:r>
              <a:rPr sz="3400" spc="-2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5" dirty="0">
                <a:solidFill>
                  <a:srgbClr val="40349E"/>
                </a:solidFill>
                <a:latin typeface="Tahoma"/>
                <a:cs typeface="Tahoma"/>
              </a:rPr>
              <a:t>successful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confirmation.</a:t>
            </a:r>
            <a:endParaRPr sz="3400">
              <a:latin typeface="Tahoma"/>
              <a:cs typeface="Tahoma"/>
            </a:endParaRPr>
          </a:p>
          <a:p>
            <a:pPr marL="12700" marR="1663700">
              <a:lnSpc>
                <a:spcPts val="3750"/>
              </a:lnSpc>
            </a:pP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Provide</a:t>
            </a:r>
            <a:r>
              <a:rPr sz="34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notifications</a:t>
            </a:r>
            <a:r>
              <a:rPr sz="34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sz="34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support. </a:t>
            </a:r>
            <a:r>
              <a:rPr sz="3400" spc="65" dirty="0">
                <a:solidFill>
                  <a:srgbClr val="40349E"/>
                </a:solidFill>
                <a:latin typeface="Tahoma"/>
                <a:cs typeface="Tahoma"/>
              </a:rPr>
              <a:t>Reduce</a:t>
            </a:r>
            <a:r>
              <a:rPr sz="34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manual</a:t>
            </a:r>
            <a:r>
              <a:rPr sz="34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workload</a:t>
            </a:r>
            <a:r>
              <a:rPr sz="34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4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organizers.</a:t>
            </a:r>
            <a:endParaRPr sz="3400">
              <a:latin typeface="Tahoma"/>
              <a:cs typeface="Tahom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0" y="-1"/>
            <a:ext cx="2718620" cy="19577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872229" cy="5562600"/>
            <a:chOff x="0" y="0"/>
            <a:chExt cx="3872229" cy="5562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810190" cy="556212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9435" y="3106870"/>
              <a:ext cx="152400" cy="1523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9435" y="4059369"/>
              <a:ext cx="152400" cy="152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9435" y="5011869"/>
              <a:ext cx="152400" cy="15239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993493" y="589883"/>
            <a:ext cx="13606780" cy="1584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465" dirty="0"/>
              <a:t>LITERATURE</a:t>
            </a:r>
            <a:r>
              <a:rPr spc="55" dirty="0"/>
              <a:t> </a:t>
            </a:r>
            <a:r>
              <a:rPr spc="595" dirty="0"/>
              <a:t>SURVEY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9435" y="5964370"/>
            <a:ext cx="152400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9435" y="6916870"/>
            <a:ext cx="152400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9435" y="7869370"/>
            <a:ext cx="152400" cy="1523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9435" y="8821870"/>
            <a:ext cx="152400" cy="15239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77764" y="2891668"/>
            <a:ext cx="12614275" cy="673417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1205865">
              <a:lnSpc>
                <a:spcPts val="3750"/>
              </a:lnSpc>
              <a:spcBef>
                <a:spcPts val="495"/>
              </a:spcBef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Existing</a:t>
            </a:r>
            <a:r>
              <a:rPr sz="34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400" spc="-1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management</a:t>
            </a:r>
            <a:r>
              <a:rPr sz="3400" spc="-1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80" dirty="0">
                <a:solidFill>
                  <a:srgbClr val="40349E"/>
                </a:solidFill>
                <a:latin typeface="Tahoma"/>
                <a:cs typeface="Tahoma"/>
              </a:rPr>
              <a:t>systems</a:t>
            </a:r>
            <a:r>
              <a:rPr sz="34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mainly</a:t>
            </a:r>
            <a:r>
              <a:rPr sz="3400" spc="-1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focus</a:t>
            </a:r>
            <a:r>
              <a:rPr sz="3400" spc="-1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on</a:t>
            </a:r>
            <a:r>
              <a:rPr sz="34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event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registration</a:t>
            </a:r>
            <a:r>
              <a:rPr sz="3400" spc="-1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sz="3400" spc="-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management.</a:t>
            </a:r>
            <a:endParaRPr sz="3400">
              <a:latin typeface="Tahoma"/>
              <a:cs typeface="Tahoma"/>
            </a:endParaRPr>
          </a:p>
          <a:p>
            <a:pPr marL="12700" marR="1290955">
              <a:lnSpc>
                <a:spcPts val="3750"/>
              </a:lnSpc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Many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80" dirty="0">
                <a:solidFill>
                  <a:srgbClr val="40349E"/>
                </a:solidFill>
                <a:latin typeface="Tahoma"/>
                <a:cs typeface="Tahoma"/>
              </a:rPr>
              <a:t>systems</a:t>
            </a:r>
            <a:r>
              <a:rPr sz="34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provide</a:t>
            </a:r>
            <a:r>
              <a:rPr sz="34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4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5" dirty="0">
                <a:solidFill>
                  <a:srgbClr val="40349E"/>
                </a:solidFill>
                <a:latin typeface="Tahoma"/>
                <a:cs typeface="Tahoma"/>
              </a:rPr>
              <a:t>schedules,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venue</a:t>
            </a:r>
            <a:r>
              <a:rPr sz="34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details,</a:t>
            </a:r>
            <a:r>
              <a:rPr sz="34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25" dirty="0">
                <a:solidFill>
                  <a:srgbClr val="40349E"/>
                </a:solidFill>
                <a:latin typeface="Tahoma"/>
                <a:cs typeface="Tahoma"/>
              </a:rPr>
              <a:t>and </a:t>
            </a:r>
            <a:r>
              <a:rPr sz="3400" spc="80" dirty="0">
                <a:solidFill>
                  <a:srgbClr val="40349E"/>
                </a:solidFill>
                <a:latin typeface="Tahoma"/>
                <a:cs typeface="Tahoma"/>
              </a:rPr>
              <a:t>session</a:t>
            </a:r>
            <a:r>
              <a:rPr sz="3400" spc="-2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information.</a:t>
            </a:r>
            <a:endParaRPr sz="3400">
              <a:latin typeface="Tahoma"/>
              <a:cs typeface="Tahoma"/>
            </a:endParaRPr>
          </a:p>
          <a:p>
            <a:pPr marL="12700" marR="1551305">
              <a:lnSpc>
                <a:spcPts val="3750"/>
              </a:lnSpc>
            </a:pP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Online</a:t>
            </a:r>
            <a:r>
              <a:rPr sz="34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platforms</a:t>
            </a:r>
            <a:r>
              <a:rPr sz="34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reduce</a:t>
            </a:r>
            <a:r>
              <a:rPr sz="34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manual</a:t>
            </a:r>
            <a:r>
              <a:rPr sz="34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work</a:t>
            </a:r>
            <a:r>
              <a:rPr sz="34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by</a:t>
            </a:r>
            <a:r>
              <a:rPr sz="34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providing</a:t>
            </a:r>
            <a:r>
              <a:rPr sz="34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35" dirty="0">
                <a:solidFill>
                  <a:srgbClr val="40349E"/>
                </a:solidFill>
                <a:latin typeface="Tahoma"/>
                <a:cs typeface="Tahoma"/>
              </a:rPr>
              <a:t>digital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registration</a:t>
            </a:r>
            <a:r>
              <a:rPr sz="3400" spc="-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400" spc="-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information.</a:t>
            </a:r>
            <a:endParaRPr sz="3400">
              <a:latin typeface="Tahoma"/>
              <a:cs typeface="Tahoma"/>
            </a:endParaRPr>
          </a:p>
          <a:p>
            <a:pPr marL="12700" marR="1432560">
              <a:lnSpc>
                <a:spcPts val="3750"/>
              </a:lnSpc>
            </a:pP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Database-</a:t>
            </a:r>
            <a:r>
              <a:rPr sz="3400" spc="75" dirty="0">
                <a:solidFill>
                  <a:srgbClr val="40349E"/>
                </a:solidFill>
                <a:latin typeface="Tahoma"/>
                <a:cs typeface="Tahoma"/>
              </a:rPr>
              <a:t>based</a:t>
            </a:r>
            <a:r>
              <a:rPr sz="3400" spc="-1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80" dirty="0">
                <a:solidFill>
                  <a:srgbClr val="40349E"/>
                </a:solidFill>
                <a:latin typeface="Tahoma"/>
                <a:cs typeface="Tahoma"/>
              </a:rPr>
              <a:t>systems</a:t>
            </a:r>
            <a:r>
              <a:rPr sz="3400" spc="-1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5" dirty="0">
                <a:solidFill>
                  <a:srgbClr val="40349E"/>
                </a:solidFill>
                <a:latin typeface="Tahoma"/>
                <a:cs typeface="Tahoma"/>
              </a:rPr>
              <a:t>help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manage</a:t>
            </a:r>
            <a:r>
              <a:rPr sz="3400" spc="-1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attendees,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events, </a:t>
            </a:r>
            <a:r>
              <a:rPr sz="3400" spc="65" dirty="0">
                <a:solidFill>
                  <a:srgbClr val="40349E"/>
                </a:solidFill>
                <a:latin typeface="Tahoma"/>
                <a:cs typeface="Tahoma"/>
              </a:rPr>
              <a:t>sessions,</a:t>
            </a:r>
            <a:r>
              <a:rPr sz="3400" spc="-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registrations</a:t>
            </a:r>
            <a:r>
              <a:rPr sz="3400" spc="-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efficiently.</a:t>
            </a:r>
            <a:endParaRPr sz="3400">
              <a:latin typeface="Tahoma"/>
              <a:cs typeface="Tahoma"/>
            </a:endParaRPr>
          </a:p>
          <a:p>
            <a:pPr marL="12700" marR="3008630">
              <a:lnSpc>
                <a:spcPts val="3750"/>
              </a:lnSpc>
            </a:pP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Some</a:t>
            </a:r>
            <a:r>
              <a:rPr sz="34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80" dirty="0">
                <a:solidFill>
                  <a:srgbClr val="40349E"/>
                </a:solidFill>
                <a:latin typeface="Tahoma"/>
                <a:cs typeface="Tahoma"/>
              </a:rPr>
              <a:t>systems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support</a:t>
            </a:r>
            <a:r>
              <a:rPr sz="34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notifications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0" dirty="0">
                <a:solidFill>
                  <a:srgbClr val="40349E"/>
                </a:solidFill>
                <a:latin typeface="Tahoma"/>
                <a:cs typeface="Tahoma"/>
              </a:rPr>
              <a:t>attendee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communication.</a:t>
            </a:r>
            <a:endParaRPr sz="3400">
              <a:latin typeface="Tahoma"/>
              <a:cs typeface="Tahoma"/>
            </a:endParaRPr>
          </a:p>
          <a:p>
            <a:pPr marL="12700" marR="5080">
              <a:lnSpc>
                <a:spcPts val="3750"/>
              </a:lnSpc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However,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5" dirty="0">
                <a:solidFill>
                  <a:srgbClr val="40349E"/>
                </a:solidFill>
                <a:latin typeface="Tahoma"/>
                <a:cs typeface="Tahoma"/>
              </a:rPr>
              <a:t>services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0" dirty="0">
                <a:solidFill>
                  <a:srgbClr val="40349E"/>
                </a:solidFill>
                <a:latin typeface="Tahoma"/>
                <a:cs typeface="Tahoma"/>
              </a:rPr>
              <a:t>such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0" dirty="0">
                <a:solidFill>
                  <a:srgbClr val="40349E"/>
                </a:solidFill>
                <a:latin typeface="Tahoma"/>
                <a:cs typeface="Tahoma"/>
              </a:rPr>
              <a:t>as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transactions,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seat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35" dirty="0">
                <a:solidFill>
                  <a:srgbClr val="40349E"/>
                </a:solidFill>
                <a:latin typeface="Tahoma"/>
                <a:cs typeface="Tahoma"/>
              </a:rPr>
              <a:t>allocation,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5" dirty="0">
                <a:solidFill>
                  <a:srgbClr val="40349E"/>
                </a:solidFill>
                <a:latin typeface="Tahoma"/>
                <a:cs typeface="Tahoma"/>
              </a:rPr>
              <a:t>complaint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handling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are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often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handled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separately.</a:t>
            </a:r>
            <a:endParaRPr sz="3400">
              <a:latin typeface="Tahoma"/>
              <a:cs typeface="Tahoma"/>
            </a:endParaRPr>
          </a:p>
          <a:p>
            <a:pPr marL="12700" marR="111760">
              <a:lnSpc>
                <a:spcPts val="3750"/>
              </a:lnSpc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These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observations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5" dirty="0">
                <a:solidFill>
                  <a:srgbClr val="40349E"/>
                </a:solidFill>
                <a:latin typeface="Tahoma"/>
                <a:cs typeface="Tahoma"/>
              </a:rPr>
              <a:t>helped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5" dirty="0">
                <a:solidFill>
                  <a:srgbClr val="40349E"/>
                </a:solidFill>
                <a:latin typeface="Tahoma"/>
                <a:cs typeface="Tahoma"/>
              </a:rPr>
              <a:t>us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design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EventEase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0" dirty="0">
                <a:solidFill>
                  <a:srgbClr val="40349E"/>
                </a:solidFill>
                <a:latin typeface="Tahoma"/>
                <a:cs typeface="Tahoma"/>
              </a:rPr>
              <a:t>as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integrated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sz="3400" spc="-2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90" dirty="0">
                <a:solidFill>
                  <a:srgbClr val="40349E"/>
                </a:solidFill>
                <a:latin typeface="Tahoma"/>
                <a:cs typeface="Tahoma"/>
              </a:rPr>
              <a:t>self-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service</a:t>
            </a:r>
            <a:r>
              <a:rPr sz="3400" spc="-2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35" dirty="0">
                <a:solidFill>
                  <a:srgbClr val="40349E"/>
                </a:solidFill>
                <a:latin typeface="Tahoma"/>
                <a:cs typeface="Tahoma"/>
              </a:rPr>
              <a:t>system.</a:t>
            </a:r>
            <a:endParaRPr sz="3400">
              <a:latin typeface="Tahoma"/>
              <a:cs typeface="Tahom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46828"/>
            <a:ext cx="3505200" cy="20661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872229" cy="5562600"/>
            <a:chOff x="0" y="0"/>
            <a:chExt cx="3872229" cy="5562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810190" cy="556212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9435" y="3106870"/>
              <a:ext cx="152400" cy="1523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9435" y="4059369"/>
              <a:ext cx="152400" cy="152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9435" y="5011869"/>
              <a:ext cx="152400" cy="15239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125162" y="589883"/>
            <a:ext cx="10038080" cy="1584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95" dirty="0"/>
              <a:t>RESEARCH</a:t>
            </a:r>
            <a:r>
              <a:rPr spc="90" dirty="0"/>
              <a:t> </a:t>
            </a:r>
            <a:r>
              <a:rPr spc="459" dirty="0"/>
              <a:t>GAP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9435" y="5964370"/>
            <a:ext cx="152400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9435" y="6916870"/>
            <a:ext cx="152400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9435" y="7869370"/>
            <a:ext cx="152400" cy="1523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77764" y="2891668"/>
            <a:ext cx="11169650" cy="625792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447675">
              <a:lnSpc>
                <a:spcPts val="3750"/>
              </a:lnSpc>
              <a:spcBef>
                <a:spcPts val="495"/>
              </a:spcBef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Existing</a:t>
            </a:r>
            <a:r>
              <a:rPr sz="3400" spc="-1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80" dirty="0">
                <a:solidFill>
                  <a:srgbClr val="40349E"/>
                </a:solidFill>
                <a:latin typeface="Tahoma"/>
                <a:cs typeface="Tahoma"/>
              </a:rPr>
              <a:t>systems</a:t>
            </a:r>
            <a:r>
              <a:rPr sz="3400" spc="-1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mainly</a:t>
            </a:r>
            <a:r>
              <a:rPr sz="3400" spc="-13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focus</a:t>
            </a:r>
            <a:r>
              <a:rPr sz="3400" spc="-1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on</a:t>
            </a:r>
            <a:r>
              <a:rPr sz="3400" spc="-1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400" spc="-13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registration</a:t>
            </a:r>
            <a:r>
              <a:rPr sz="3400" spc="-1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25" dirty="0">
                <a:solidFill>
                  <a:srgbClr val="40349E"/>
                </a:solidFill>
                <a:latin typeface="Tahoma"/>
                <a:cs typeface="Tahoma"/>
              </a:rPr>
              <a:t>and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information</a:t>
            </a:r>
            <a:r>
              <a:rPr sz="3400" spc="1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management.</a:t>
            </a:r>
            <a:endParaRPr sz="3400">
              <a:latin typeface="Tahoma"/>
              <a:cs typeface="Tahoma"/>
            </a:endParaRPr>
          </a:p>
          <a:p>
            <a:pPr marL="12700" marR="78105">
              <a:lnSpc>
                <a:spcPts val="3750"/>
              </a:lnSpc>
            </a:pPr>
            <a:r>
              <a:rPr sz="3400" spc="70" dirty="0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sz="34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may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05" dirty="0">
                <a:solidFill>
                  <a:srgbClr val="40349E"/>
                </a:solidFill>
                <a:latin typeface="Tahoma"/>
                <a:cs typeface="Tahoma"/>
              </a:rPr>
              <a:t>still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5" dirty="0">
                <a:solidFill>
                  <a:srgbClr val="40349E"/>
                </a:solidFill>
                <a:latin typeface="Tahoma"/>
                <a:cs typeface="Tahoma"/>
              </a:rPr>
              <a:t>depend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on</a:t>
            </a:r>
            <a:r>
              <a:rPr sz="34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organizers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support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25" dirty="0">
                <a:solidFill>
                  <a:srgbClr val="40349E"/>
                </a:solidFill>
                <a:latin typeface="Tahoma"/>
                <a:cs typeface="Tahoma"/>
              </a:rPr>
              <a:t>and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event-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related</a:t>
            </a:r>
            <a:r>
              <a:rPr sz="3400" spc="-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queries.</a:t>
            </a:r>
            <a:endParaRPr sz="3400">
              <a:latin typeface="Tahoma"/>
              <a:cs typeface="Tahoma"/>
            </a:endParaRPr>
          </a:p>
          <a:p>
            <a:pPr marL="12700" marR="5080">
              <a:lnSpc>
                <a:spcPts val="3750"/>
              </a:lnSpc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Transaction</a:t>
            </a:r>
            <a:r>
              <a:rPr sz="34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processing</a:t>
            </a:r>
            <a:r>
              <a:rPr sz="34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seat</a:t>
            </a:r>
            <a:r>
              <a:rPr sz="34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allocation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are</a:t>
            </a:r>
            <a:r>
              <a:rPr sz="34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not</a:t>
            </a:r>
            <a:r>
              <a:rPr sz="34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always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integrated</a:t>
            </a:r>
            <a:r>
              <a:rPr sz="34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into</a:t>
            </a:r>
            <a:r>
              <a:rPr sz="3400" spc="-11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sz="34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sz="3400" spc="-11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workflow.</a:t>
            </a:r>
            <a:endParaRPr sz="3400">
              <a:latin typeface="Tahoma"/>
              <a:cs typeface="Tahoma"/>
            </a:endParaRPr>
          </a:p>
          <a:p>
            <a:pPr marL="12700" marR="1069975">
              <a:lnSpc>
                <a:spcPts val="3750"/>
              </a:lnSpc>
            </a:pP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Complaint</a:t>
            </a:r>
            <a:r>
              <a:rPr sz="34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handling</a:t>
            </a:r>
            <a:r>
              <a:rPr sz="34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escalation</a:t>
            </a:r>
            <a:r>
              <a:rPr sz="34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may</a:t>
            </a:r>
            <a:r>
              <a:rPr sz="34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80" dirty="0">
                <a:solidFill>
                  <a:srgbClr val="40349E"/>
                </a:solidFill>
                <a:latin typeface="Tahoma"/>
                <a:cs typeface="Tahoma"/>
              </a:rPr>
              <a:t>be</a:t>
            </a:r>
            <a:r>
              <a:rPr sz="34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managed separately.</a:t>
            </a:r>
            <a:endParaRPr sz="3400">
              <a:latin typeface="Tahoma"/>
              <a:cs typeface="Tahoma"/>
            </a:endParaRPr>
          </a:p>
          <a:p>
            <a:pPr marL="12700" marR="859790">
              <a:lnSpc>
                <a:spcPts val="3750"/>
              </a:lnSpc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There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00" dirty="0">
                <a:solidFill>
                  <a:srgbClr val="40349E"/>
                </a:solidFill>
                <a:latin typeface="Tahoma"/>
                <a:cs typeface="Tahoma"/>
              </a:rPr>
              <a:t>is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need</a:t>
            </a:r>
            <a:r>
              <a:rPr sz="3400" spc="-2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centralized</a:t>
            </a:r>
            <a:r>
              <a:rPr sz="3400" spc="-2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90" dirty="0">
                <a:solidFill>
                  <a:srgbClr val="40349E"/>
                </a:solidFill>
                <a:latin typeface="Tahoma"/>
                <a:cs typeface="Tahoma"/>
              </a:rPr>
              <a:t>self-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service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0" dirty="0">
                <a:solidFill>
                  <a:srgbClr val="40349E"/>
                </a:solidFill>
                <a:latin typeface="Tahoma"/>
                <a:cs typeface="Tahoma"/>
              </a:rPr>
              <a:t>platform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combining</a:t>
            </a:r>
            <a:r>
              <a:rPr sz="3400" spc="-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these</a:t>
            </a:r>
            <a:r>
              <a:rPr sz="3400" spc="-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functions.</a:t>
            </a:r>
            <a:endParaRPr sz="3400">
              <a:latin typeface="Tahoma"/>
              <a:cs typeface="Tahoma"/>
            </a:endParaRPr>
          </a:p>
          <a:p>
            <a:pPr marL="12700" marR="110489" algn="just">
              <a:lnSpc>
                <a:spcPts val="3750"/>
              </a:lnSpc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EventEase</a:t>
            </a:r>
            <a:r>
              <a:rPr sz="34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80" dirty="0">
                <a:solidFill>
                  <a:srgbClr val="40349E"/>
                </a:solidFill>
                <a:latin typeface="Tahoma"/>
                <a:cs typeface="Tahoma"/>
              </a:rPr>
              <a:t>addresses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this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gap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by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integrating</a:t>
            </a:r>
            <a:r>
              <a:rPr sz="34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registration,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transactions,</a:t>
            </a:r>
            <a:r>
              <a:rPr sz="3400" spc="-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seat</a:t>
            </a:r>
            <a:r>
              <a:rPr sz="3400" spc="-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allocation,</a:t>
            </a:r>
            <a:r>
              <a:rPr sz="3400" spc="-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notifications,</a:t>
            </a:r>
            <a:r>
              <a:rPr sz="3400" spc="-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complaint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management.</a:t>
            </a:r>
            <a:endParaRPr sz="3400">
              <a:latin typeface="Tahoma"/>
              <a:cs typeface="Tahoma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3200400" cy="20193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10190" cy="556212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633487" y="702063"/>
            <a:ext cx="16586200" cy="1492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600" spc="630" dirty="0"/>
              <a:t>PROPOSED</a:t>
            </a:r>
            <a:r>
              <a:rPr sz="9600" spc="75" dirty="0"/>
              <a:t> </a:t>
            </a:r>
            <a:r>
              <a:rPr sz="9600" spc="484" dirty="0"/>
              <a:t>METHODOLOGY</a:t>
            </a:r>
            <a:endParaRPr sz="9600"/>
          </a:p>
        </p:txBody>
      </p:sp>
      <p:grpSp>
        <p:nvGrpSpPr>
          <p:cNvPr id="4" name="object 4"/>
          <p:cNvGrpSpPr/>
          <p:nvPr/>
        </p:nvGrpSpPr>
        <p:grpSpPr>
          <a:xfrm>
            <a:off x="3719435" y="3106870"/>
            <a:ext cx="152400" cy="2057400"/>
            <a:chOff x="3719435" y="3106870"/>
            <a:chExt cx="152400" cy="20574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9435" y="3106870"/>
              <a:ext cx="152400" cy="152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9435" y="4059370"/>
              <a:ext cx="152400" cy="152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9435" y="5011870"/>
              <a:ext cx="152400" cy="15239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9435" y="5964370"/>
            <a:ext cx="152400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9435" y="6916870"/>
            <a:ext cx="152400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9435" y="7869370"/>
            <a:ext cx="152400" cy="1523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9435" y="8821870"/>
            <a:ext cx="152400" cy="15239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77764" y="2891668"/>
            <a:ext cx="12310110" cy="673417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1511300">
              <a:lnSpc>
                <a:spcPts val="3750"/>
              </a:lnSpc>
              <a:spcBef>
                <a:spcPts val="495"/>
              </a:spcBef>
            </a:pP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Requirement</a:t>
            </a:r>
            <a:r>
              <a:rPr sz="3400" spc="-2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5" dirty="0">
                <a:solidFill>
                  <a:srgbClr val="40349E"/>
                </a:solidFill>
                <a:latin typeface="Tahoma"/>
                <a:cs typeface="Tahoma"/>
              </a:rPr>
              <a:t>Analysis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25" dirty="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Identify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2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organizer requirements.</a:t>
            </a:r>
            <a:endParaRPr sz="3400">
              <a:latin typeface="Tahoma"/>
              <a:cs typeface="Tahoma"/>
            </a:endParaRPr>
          </a:p>
          <a:p>
            <a:pPr marL="12700" marR="1004569">
              <a:lnSpc>
                <a:spcPts val="3750"/>
              </a:lnSpc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Database</a:t>
            </a:r>
            <a:r>
              <a:rPr sz="3400" spc="-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Design</a:t>
            </a:r>
            <a:r>
              <a:rPr sz="3400" spc="-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25" dirty="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sz="3400" spc="-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Define</a:t>
            </a:r>
            <a:r>
              <a:rPr sz="3400" spc="-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entities,</a:t>
            </a:r>
            <a:r>
              <a:rPr sz="3400" spc="-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relationships,</a:t>
            </a:r>
            <a:r>
              <a:rPr sz="3400" spc="-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keys,</a:t>
            </a:r>
            <a:r>
              <a:rPr sz="3400" spc="-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25" dirty="0">
                <a:solidFill>
                  <a:srgbClr val="40349E"/>
                </a:solidFill>
                <a:latin typeface="Tahoma"/>
                <a:cs typeface="Tahoma"/>
              </a:rPr>
              <a:t>and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constraints.</a:t>
            </a:r>
            <a:endParaRPr sz="3400">
              <a:latin typeface="Tahoma"/>
              <a:cs typeface="Tahoma"/>
            </a:endParaRPr>
          </a:p>
          <a:p>
            <a:pPr marL="12700" marR="1683385">
              <a:lnSpc>
                <a:spcPts val="3750"/>
              </a:lnSpc>
            </a:pP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Normalization</a:t>
            </a:r>
            <a:r>
              <a:rPr sz="3400" spc="-1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25" dirty="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5" dirty="0">
                <a:solidFill>
                  <a:srgbClr val="40349E"/>
                </a:solidFill>
                <a:latin typeface="Tahoma"/>
                <a:cs typeface="Tahoma"/>
              </a:rPr>
              <a:t>Reduce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data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redundancy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1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maintain </a:t>
            </a:r>
            <a:r>
              <a:rPr sz="3400" spc="40" dirty="0">
                <a:solidFill>
                  <a:srgbClr val="40349E"/>
                </a:solidFill>
                <a:latin typeface="Tahoma"/>
                <a:cs typeface="Tahoma"/>
              </a:rPr>
              <a:t>consistency.</a:t>
            </a:r>
            <a:endParaRPr sz="3400">
              <a:latin typeface="Tahoma"/>
              <a:cs typeface="Tahoma"/>
            </a:endParaRPr>
          </a:p>
          <a:p>
            <a:pPr marL="12700" marR="5080">
              <a:lnSpc>
                <a:spcPts val="3750"/>
              </a:lnSpc>
            </a:pPr>
            <a:r>
              <a:rPr sz="3400" spc="85" dirty="0">
                <a:solidFill>
                  <a:srgbClr val="40349E"/>
                </a:solidFill>
                <a:latin typeface="Tahoma"/>
                <a:cs typeface="Tahoma"/>
              </a:rPr>
              <a:t>Backend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Development</a:t>
            </a:r>
            <a:r>
              <a:rPr sz="3400" spc="-2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25" dirty="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sz="3400" spc="-2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Develop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REST</a:t>
            </a:r>
            <a:r>
              <a:rPr sz="3400" spc="-2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25" dirty="0">
                <a:solidFill>
                  <a:srgbClr val="40349E"/>
                </a:solidFill>
                <a:latin typeface="Tahoma"/>
                <a:cs typeface="Tahoma"/>
              </a:rPr>
              <a:t>APIs</a:t>
            </a:r>
            <a:r>
              <a:rPr sz="3400" spc="-2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400" spc="-2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application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25" dirty="0">
                <a:solidFill>
                  <a:srgbClr val="40349E"/>
                </a:solidFill>
                <a:latin typeface="Tahoma"/>
                <a:cs typeface="Tahoma"/>
              </a:rPr>
              <a:t>and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database</a:t>
            </a:r>
            <a:r>
              <a:rPr sz="3400" spc="-2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operations.</a:t>
            </a:r>
            <a:endParaRPr sz="3400">
              <a:latin typeface="Tahoma"/>
              <a:cs typeface="Tahoma"/>
            </a:endParaRPr>
          </a:p>
          <a:p>
            <a:pPr marL="12700" marR="125730">
              <a:lnSpc>
                <a:spcPts val="3750"/>
              </a:lnSpc>
            </a:pP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Frontend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Development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25" dirty="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00" dirty="0">
                <a:solidFill>
                  <a:srgbClr val="40349E"/>
                </a:solidFill>
                <a:latin typeface="Tahoma"/>
                <a:cs typeface="Tahoma"/>
              </a:rPr>
              <a:t>Build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EventEase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5" dirty="0">
                <a:solidFill>
                  <a:srgbClr val="40349E"/>
                </a:solidFill>
                <a:latin typeface="Tahoma"/>
                <a:cs typeface="Tahoma"/>
              </a:rPr>
              <a:t>web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interface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25" dirty="0">
                <a:solidFill>
                  <a:srgbClr val="40349E"/>
                </a:solidFill>
                <a:latin typeface="Tahoma"/>
                <a:cs typeface="Tahoma"/>
              </a:rPr>
              <a:t>for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sz="3400" spc="-2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90" dirty="0">
                <a:solidFill>
                  <a:srgbClr val="40349E"/>
                </a:solidFill>
                <a:latin typeface="Tahoma"/>
                <a:cs typeface="Tahoma"/>
              </a:rPr>
              <a:t>self-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service.</a:t>
            </a:r>
            <a:endParaRPr sz="3400">
              <a:latin typeface="Tahoma"/>
              <a:cs typeface="Tahoma"/>
            </a:endParaRPr>
          </a:p>
          <a:p>
            <a:pPr marL="12700" marR="1649730">
              <a:lnSpc>
                <a:spcPts val="3750"/>
              </a:lnSpc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Testing</a:t>
            </a:r>
            <a:r>
              <a:rPr sz="34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&amp;</a:t>
            </a:r>
            <a:r>
              <a:rPr sz="34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Integration</a:t>
            </a:r>
            <a:r>
              <a:rPr sz="34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25" dirty="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sz="34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Test</a:t>
            </a:r>
            <a:r>
              <a:rPr sz="3400" spc="-11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queries,</a:t>
            </a:r>
            <a:r>
              <a:rPr sz="34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5" dirty="0">
                <a:solidFill>
                  <a:srgbClr val="40349E"/>
                </a:solidFill>
                <a:latin typeface="Tahoma"/>
                <a:cs typeface="Tahoma"/>
              </a:rPr>
              <a:t>APIs,</a:t>
            </a:r>
            <a:r>
              <a:rPr sz="34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registration,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transactions,</a:t>
            </a:r>
            <a:r>
              <a:rPr sz="3400" spc="-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seat</a:t>
            </a:r>
            <a:r>
              <a:rPr sz="3400" spc="-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35" dirty="0">
                <a:solidFill>
                  <a:srgbClr val="40349E"/>
                </a:solidFill>
                <a:latin typeface="Tahoma"/>
                <a:cs typeface="Tahoma"/>
              </a:rPr>
              <a:t>allocation.</a:t>
            </a:r>
            <a:endParaRPr sz="3400">
              <a:latin typeface="Tahoma"/>
              <a:cs typeface="Tahoma"/>
            </a:endParaRPr>
          </a:p>
          <a:p>
            <a:pPr marL="12700" marR="864869">
              <a:lnSpc>
                <a:spcPts val="3750"/>
              </a:lnSpc>
            </a:pPr>
            <a:r>
              <a:rPr sz="3400" spc="65" dirty="0">
                <a:solidFill>
                  <a:srgbClr val="40349E"/>
                </a:solidFill>
                <a:latin typeface="Tahoma"/>
                <a:cs typeface="Tahoma"/>
              </a:rPr>
              <a:t>Final</a:t>
            </a:r>
            <a:r>
              <a:rPr sz="34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Integration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25" dirty="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Connect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Frontend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650" dirty="0">
                <a:solidFill>
                  <a:srgbClr val="40349E"/>
                </a:solidFill>
                <a:latin typeface="Tahoma"/>
                <a:cs typeface="Tahoma"/>
              </a:rPr>
              <a:t>→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REST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20" dirty="0">
                <a:solidFill>
                  <a:srgbClr val="40349E"/>
                </a:solidFill>
                <a:latin typeface="Tahoma"/>
                <a:cs typeface="Tahoma"/>
              </a:rPr>
              <a:t>API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650" dirty="0">
                <a:solidFill>
                  <a:srgbClr val="40349E"/>
                </a:solidFill>
                <a:latin typeface="Tahoma"/>
                <a:cs typeface="Tahoma"/>
              </a:rPr>
              <a:t>→</a:t>
            </a:r>
            <a:r>
              <a:rPr sz="34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MySQL Database.</a:t>
            </a:r>
            <a:endParaRPr sz="3400">
              <a:latin typeface="Tahoma"/>
              <a:cs typeface="Tahom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1713491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69641" y="589883"/>
            <a:ext cx="15701644" cy="1584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855" dirty="0"/>
              <a:t>SYSTEM</a:t>
            </a:r>
            <a:r>
              <a:rPr spc="65" dirty="0"/>
              <a:t> </a:t>
            </a:r>
            <a:r>
              <a:rPr spc="495" dirty="0"/>
              <a:t>ARCHITECTURE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06355" y="2936681"/>
            <a:ext cx="10077449" cy="67151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2209800" cy="13335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957954" cy="5562600"/>
            <a:chOff x="0" y="0"/>
            <a:chExt cx="3957954" cy="5562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810190" cy="556212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6585" y="4553199"/>
              <a:ext cx="180975" cy="1809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6585" y="5105649"/>
              <a:ext cx="180975" cy="180974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07374" y="475141"/>
            <a:ext cx="10184765" cy="2903855"/>
          </a:xfrm>
          <a:prstGeom prst="rect">
            <a:avLst/>
          </a:prstGeom>
        </p:spPr>
        <p:txBody>
          <a:bodyPr vert="horz" wrap="square" lIns="0" tIns="255905" rIns="0" bIns="0" rtlCol="0">
            <a:spAutoFit/>
          </a:bodyPr>
          <a:lstStyle/>
          <a:p>
            <a:pPr marL="3334385" marR="5080" indent="-3322320">
              <a:lnSpc>
                <a:spcPts val="10390"/>
              </a:lnSpc>
              <a:spcBef>
                <a:spcPts val="2015"/>
              </a:spcBef>
            </a:pPr>
            <a:r>
              <a:rPr spc="550" dirty="0"/>
              <a:t>TECHNOLOGIES </a:t>
            </a:r>
            <a:r>
              <a:rPr spc="755" dirty="0"/>
              <a:t>USED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6585" y="5658099"/>
            <a:ext cx="180975" cy="1809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6585" y="6210549"/>
            <a:ext cx="180975" cy="1809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6585" y="6762999"/>
            <a:ext cx="180975" cy="1809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6585" y="7315449"/>
            <a:ext cx="180975" cy="1809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6585" y="8420349"/>
            <a:ext cx="180975" cy="18097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185664" y="4312566"/>
            <a:ext cx="9236075" cy="5038725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12700" marR="1933575">
              <a:lnSpc>
                <a:spcPts val="4350"/>
              </a:lnSpc>
              <a:spcBef>
                <a:spcPts val="515"/>
              </a:spcBef>
            </a:pPr>
            <a:r>
              <a:rPr sz="3900" dirty="0">
                <a:solidFill>
                  <a:srgbClr val="40349E"/>
                </a:solidFill>
                <a:latin typeface="Tahoma"/>
                <a:cs typeface="Tahoma"/>
              </a:rPr>
              <a:t>Frontend:</a:t>
            </a:r>
            <a:r>
              <a:rPr sz="39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dirty="0">
                <a:solidFill>
                  <a:srgbClr val="40349E"/>
                </a:solidFill>
                <a:latin typeface="Tahoma"/>
                <a:cs typeface="Tahoma"/>
              </a:rPr>
              <a:t>HTML,</a:t>
            </a:r>
            <a:r>
              <a:rPr sz="39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dirty="0">
                <a:solidFill>
                  <a:srgbClr val="40349E"/>
                </a:solidFill>
                <a:latin typeface="Tahoma"/>
                <a:cs typeface="Tahoma"/>
              </a:rPr>
              <a:t>CSS,</a:t>
            </a:r>
            <a:r>
              <a:rPr sz="39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spc="70" dirty="0">
                <a:solidFill>
                  <a:srgbClr val="40349E"/>
                </a:solidFill>
                <a:latin typeface="Tahoma"/>
                <a:cs typeface="Tahoma"/>
              </a:rPr>
              <a:t>JavaScript </a:t>
            </a:r>
            <a:r>
              <a:rPr sz="3900" spc="50" dirty="0">
                <a:solidFill>
                  <a:srgbClr val="40349E"/>
                </a:solidFill>
                <a:latin typeface="Tahoma"/>
                <a:cs typeface="Tahoma"/>
              </a:rPr>
              <a:t>Backend:</a:t>
            </a:r>
            <a:r>
              <a:rPr sz="3900" spc="-2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dirty="0">
                <a:solidFill>
                  <a:srgbClr val="40349E"/>
                </a:solidFill>
                <a:latin typeface="Tahoma"/>
                <a:cs typeface="Tahoma"/>
              </a:rPr>
              <a:t>Node.js,</a:t>
            </a:r>
            <a:r>
              <a:rPr sz="39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spc="-10" dirty="0">
                <a:solidFill>
                  <a:srgbClr val="40349E"/>
                </a:solidFill>
                <a:latin typeface="Tahoma"/>
                <a:cs typeface="Tahoma"/>
              </a:rPr>
              <a:t>Express.js </a:t>
            </a:r>
            <a:r>
              <a:rPr sz="3900" dirty="0">
                <a:solidFill>
                  <a:srgbClr val="40349E"/>
                </a:solidFill>
                <a:latin typeface="Tahoma"/>
                <a:cs typeface="Tahoma"/>
              </a:rPr>
              <a:t>API:</a:t>
            </a:r>
            <a:r>
              <a:rPr sz="39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dirty="0">
                <a:solidFill>
                  <a:srgbClr val="40349E"/>
                </a:solidFill>
                <a:latin typeface="Tahoma"/>
                <a:cs typeface="Tahoma"/>
              </a:rPr>
              <a:t>REST</a:t>
            </a:r>
            <a:r>
              <a:rPr sz="39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spc="114" dirty="0">
                <a:solidFill>
                  <a:srgbClr val="40349E"/>
                </a:solidFill>
                <a:latin typeface="Tahoma"/>
                <a:cs typeface="Tahoma"/>
              </a:rPr>
              <a:t>API</a:t>
            </a:r>
            <a:endParaRPr sz="3900">
              <a:latin typeface="Tahoma"/>
              <a:cs typeface="Tahoma"/>
            </a:endParaRPr>
          </a:p>
          <a:p>
            <a:pPr marL="12700">
              <a:lnSpc>
                <a:spcPts val="4095"/>
              </a:lnSpc>
            </a:pPr>
            <a:r>
              <a:rPr sz="3900" dirty="0">
                <a:solidFill>
                  <a:srgbClr val="40349E"/>
                </a:solidFill>
                <a:latin typeface="Tahoma"/>
                <a:cs typeface="Tahoma"/>
              </a:rPr>
              <a:t>Database:</a:t>
            </a:r>
            <a:r>
              <a:rPr sz="39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spc="-10" dirty="0">
                <a:solidFill>
                  <a:srgbClr val="40349E"/>
                </a:solidFill>
                <a:latin typeface="Tahoma"/>
                <a:cs typeface="Tahoma"/>
              </a:rPr>
              <a:t>MySQL</a:t>
            </a:r>
            <a:endParaRPr sz="3900">
              <a:latin typeface="Tahoma"/>
              <a:cs typeface="Tahoma"/>
            </a:endParaRPr>
          </a:p>
          <a:p>
            <a:pPr marL="12700" marR="741045">
              <a:lnSpc>
                <a:spcPts val="4350"/>
              </a:lnSpc>
              <a:spcBef>
                <a:spcPts val="254"/>
              </a:spcBef>
            </a:pPr>
            <a:r>
              <a:rPr sz="3900" spc="55" dirty="0">
                <a:solidFill>
                  <a:srgbClr val="40349E"/>
                </a:solidFill>
                <a:latin typeface="Tahoma"/>
                <a:cs typeface="Tahoma"/>
              </a:rPr>
              <a:t>Development</a:t>
            </a:r>
            <a:r>
              <a:rPr sz="3900" spc="-2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spc="-10" dirty="0">
                <a:solidFill>
                  <a:srgbClr val="40349E"/>
                </a:solidFill>
                <a:latin typeface="Tahoma"/>
                <a:cs typeface="Tahoma"/>
              </a:rPr>
              <a:t>Tool:</a:t>
            </a:r>
            <a:r>
              <a:rPr sz="3900" spc="-2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spc="75" dirty="0">
                <a:solidFill>
                  <a:srgbClr val="40349E"/>
                </a:solidFill>
                <a:latin typeface="Tahoma"/>
                <a:cs typeface="Tahoma"/>
              </a:rPr>
              <a:t>Visual</a:t>
            </a:r>
            <a:r>
              <a:rPr sz="3900" spc="-2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spc="65" dirty="0">
                <a:solidFill>
                  <a:srgbClr val="40349E"/>
                </a:solidFill>
                <a:latin typeface="Tahoma"/>
                <a:cs typeface="Tahoma"/>
              </a:rPr>
              <a:t>Studio</a:t>
            </a:r>
            <a:r>
              <a:rPr sz="3900" spc="-2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spc="55" dirty="0">
                <a:solidFill>
                  <a:srgbClr val="40349E"/>
                </a:solidFill>
                <a:latin typeface="Tahoma"/>
                <a:cs typeface="Tahoma"/>
              </a:rPr>
              <a:t>Code </a:t>
            </a:r>
            <a:r>
              <a:rPr sz="3900" spc="45" dirty="0">
                <a:solidFill>
                  <a:srgbClr val="40349E"/>
                </a:solidFill>
                <a:latin typeface="Tahoma"/>
                <a:cs typeface="Tahoma"/>
              </a:rPr>
              <a:t>Database</a:t>
            </a:r>
            <a:r>
              <a:rPr sz="3900" spc="-2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spc="45" dirty="0">
                <a:solidFill>
                  <a:srgbClr val="40349E"/>
                </a:solidFill>
                <a:latin typeface="Tahoma"/>
                <a:cs typeface="Tahoma"/>
              </a:rPr>
              <a:t>Concepts:</a:t>
            </a:r>
            <a:r>
              <a:rPr sz="3900" spc="-2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spc="-25" dirty="0">
                <a:solidFill>
                  <a:srgbClr val="40349E"/>
                </a:solidFill>
                <a:latin typeface="Tahoma"/>
                <a:cs typeface="Tahoma"/>
              </a:rPr>
              <a:t>SQL,</a:t>
            </a:r>
            <a:r>
              <a:rPr sz="3900" spc="-2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spc="75" dirty="0">
                <a:solidFill>
                  <a:srgbClr val="40349E"/>
                </a:solidFill>
                <a:latin typeface="Tahoma"/>
                <a:cs typeface="Tahoma"/>
              </a:rPr>
              <a:t>Joins, </a:t>
            </a:r>
            <a:r>
              <a:rPr sz="3900" spc="50" dirty="0">
                <a:solidFill>
                  <a:srgbClr val="40349E"/>
                </a:solidFill>
                <a:latin typeface="Tahoma"/>
                <a:cs typeface="Tahoma"/>
              </a:rPr>
              <a:t>Normalization,</a:t>
            </a:r>
            <a:r>
              <a:rPr sz="3900" spc="-2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spc="40" dirty="0">
                <a:solidFill>
                  <a:srgbClr val="40349E"/>
                </a:solidFill>
                <a:latin typeface="Tahoma"/>
                <a:cs typeface="Tahoma"/>
              </a:rPr>
              <a:t>Transactions</a:t>
            </a:r>
            <a:endParaRPr sz="3900">
              <a:latin typeface="Tahoma"/>
              <a:cs typeface="Tahoma"/>
            </a:endParaRPr>
          </a:p>
          <a:p>
            <a:pPr marL="12700" marR="5080">
              <a:lnSpc>
                <a:spcPts val="4350"/>
              </a:lnSpc>
            </a:pPr>
            <a:r>
              <a:rPr sz="3900" dirty="0">
                <a:solidFill>
                  <a:srgbClr val="40349E"/>
                </a:solidFill>
                <a:latin typeface="Tahoma"/>
                <a:cs typeface="Tahoma"/>
              </a:rPr>
              <a:t>Data</a:t>
            </a:r>
            <a:r>
              <a:rPr sz="39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dirty="0">
                <a:solidFill>
                  <a:srgbClr val="40349E"/>
                </a:solidFill>
                <a:latin typeface="Tahoma"/>
                <a:cs typeface="Tahoma"/>
              </a:rPr>
              <a:t>Format:</a:t>
            </a:r>
            <a:r>
              <a:rPr sz="3900" spc="-229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spc="130" dirty="0">
                <a:solidFill>
                  <a:srgbClr val="40349E"/>
                </a:solidFill>
                <a:latin typeface="Tahoma"/>
                <a:cs typeface="Tahoma"/>
              </a:rPr>
              <a:t>JSON</a:t>
            </a:r>
            <a:r>
              <a:rPr sz="3900" spc="-2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900" spc="-2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900" spc="55" dirty="0">
                <a:solidFill>
                  <a:srgbClr val="40349E"/>
                </a:solidFill>
                <a:latin typeface="Tahoma"/>
                <a:cs typeface="Tahoma"/>
              </a:rPr>
              <a:t>frontend–</a:t>
            </a:r>
            <a:r>
              <a:rPr sz="3900" spc="65" dirty="0">
                <a:solidFill>
                  <a:srgbClr val="40349E"/>
                </a:solidFill>
                <a:latin typeface="Tahoma"/>
                <a:cs typeface="Tahoma"/>
              </a:rPr>
              <a:t>backend </a:t>
            </a:r>
            <a:r>
              <a:rPr sz="3900" spc="55" dirty="0">
                <a:solidFill>
                  <a:srgbClr val="40349E"/>
                </a:solidFill>
                <a:latin typeface="Tahoma"/>
                <a:cs typeface="Tahoma"/>
              </a:rPr>
              <a:t>communication</a:t>
            </a:r>
            <a:endParaRPr sz="3900">
              <a:latin typeface="Tahoma"/>
              <a:cs typeface="Tahom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8268"/>
            <a:ext cx="2743200" cy="15903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851275" cy="5562600"/>
            <a:chOff x="0" y="0"/>
            <a:chExt cx="3851275" cy="5562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810190" cy="556212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8483" y="2456349"/>
              <a:ext cx="152400" cy="1523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8483" y="3408849"/>
              <a:ext cx="152400" cy="152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8483" y="4361349"/>
              <a:ext cx="152400" cy="152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8483" y="5313849"/>
              <a:ext cx="152400" cy="152399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49725">
              <a:lnSpc>
                <a:spcPct val="100000"/>
              </a:lnSpc>
              <a:spcBef>
                <a:spcPts val="125"/>
              </a:spcBef>
            </a:pPr>
            <a:r>
              <a:rPr spc="560" dirty="0"/>
              <a:t>DATASET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98483" y="6266349"/>
            <a:ext cx="152400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98483" y="7218849"/>
            <a:ext cx="152400" cy="1523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98483" y="8171349"/>
            <a:ext cx="152400" cy="15239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56812" y="2241147"/>
            <a:ext cx="11399520" cy="673417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921385">
              <a:lnSpc>
                <a:spcPts val="3750"/>
              </a:lnSpc>
              <a:spcBef>
                <a:spcPts val="495"/>
              </a:spcBef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dataset</a:t>
            </a:r>
            <a:r>
              <a:rPr sz="34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00" dirty="0">
                <a:solidFill>
                  <a:srgbClr val="40349E"/>
                </a:solidFill>
                <a:latin typeface="Tahoma"/>
                <a:cs typeface="Tahoma"/>
              </a:rPr>
              <a:t>is</a:t>
            </a:r>
            <a:r>
              <a:rPr sz="34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designed</a:t>
            </a:r>
            <a:r>
              <a:rPr sz="34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</a:t>
            </a:r>
            <a:r>
              <a:rPr sz="34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4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management</a:t>
            </a:r>
            <a:r>
              <a:rPr sz="34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25" dirty="0">
                <a:solidFill>
                  <a:srgbClr val="40349E"/>
                </a:solidFill>
                <a:latin typeface="Tahoma"/>
                <a:cs typeface="Tahoma"/>
              </a:rPr>
              <a:t>and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sz="3400" spc="-2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90" dirty="0">
                <a:solidFill>
                  <a:srgbClr val="40349E"/>
                </a:solidFill>
                <a:latin typeface="Tahoma"/>
                <a:cs typeface="Tahoma"/>
              </a:rPr>
              <a:t>self-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service</a:t>
            </a:r>
            <a:r>
              <a:rPr sz="3400" spc="-2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35" dirty="0">
                <a:solidFill>
                  <a:srgbClr val="40349E"/>
                </a:solidFill>
                <a:latin typeface="Tahoma"/>
                <a:cs typeface="Tahoma"/>
              </a:rPr>
              <a:t>system.</a:t>
            </a:r>
            <a:endParaRPr sz="3400">
              <a:latin typeface="Tahoma"/>
              <a:cs typeface="Tahoma"/>
            </a:endParaRPr>
          </a:p>
          <a:p>
            <a:pPr marL="12700" marR="1308735">
              <a:lnSpc>
                <a:spcPts val="3750"/>
              </a:lnSpc>
            </a:pP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It</a:t>
            </a:r>
            <a:r>
              <a:rPr sz="3400" spc="-11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contains</a:t>
            </a:r>
            <a:r>
              <a:rPr sz="3400" spc="-1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information</a:t>
            </a:r>
            <a:r>
              <a:rPr sz="3400" spc="-1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related</a:t>
            </a:r>
            <a:r>
              <a:rPr sz="3400" spc="-1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3400" spc="-1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attendees,</a:t>
            </a:r>
            <a:r>
              <a:rPr sz="3400" spc="-1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events,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registrations,</a:t>
            </a:r>
            <a:r>
              <a:rPr sz="3400" spc="-13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5" dirty="0">
                <a:solidFill>
                  <a:srgbClr val="40349E"/>
                </a:solidFill>
                <a:latin typeface="Tahoma"/>
                <a:cs typeface="Tahoma"/>
              </a:rPr>
              <a:t>sessions,</a:t>
            </a:r>
            <a:r>
              <a:rPr sz="3400" spc="-13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speakers,</a:t>
            </a:r>
            <a:r>
              <a:rPr sz="34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13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venues.</a:t>
            </a:r>
            <a:endParaRPr sz="3400">
              <a:latin typeface="Tahoma"/>
              <a:cs typeface="Tahoma"/>
            </a:endParaRPr>
          </a:p>
          <a:p>
            <a:pPr marL="12700" marR="334645">
              <a:lnSpc>
                <a:spcPts val="3750"/>
              </a:lnSpc>
            </a:pP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It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80" dirty="0">
                <a:solidFill>
                  <a:srgbClr val="40349E"/>
                </a:solidFill>
                <a:latin typeface="Tahoma"/>
                <a:cs typeface="Tahoma"/>
              </a:rPr>
              <a:t>also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80" dirty="0">
                <a:solidFill>
                  <a:srgbClr val="40349E"/>
                </a:solidFill>
                <a:latin typeface="Tahoma"/>
                <a:cs typeface="Tahoma"/>
              </a:rPr>
              <a:t>includes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seat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allocation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transaction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5" dirty="0">
                <a:solidFill>
                  <a:srgbClr val="40349E"/>
                </a:solidFill>
                <a:latin typeface="Tahoma"/>
                <a:cs typeface="Tahoma"/>
              </a:rPr>
              <a:t>details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25" dirty="0">
                <a:solidFill>
                  <a:srgbClr val="40349E"/>
                </a:solidFill>
                <a:latin typeface="Tahoma"/>
                <a:cs typeface="Tahoma"/>
              </a:rPr>
              <a:t>for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managing</a:t>
            </a:r>
            <a:r>
              <a:rPr sz="3400" spc="-1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400" spc="-1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participation.</a:t>
            </a:r>
            <a:endParaRPr sz="3400">
              <a:latin typeface="Tahoma"/>
              <a:cs typeface="Tahoma"/>
            </a:endParaRPr>
          </a:p>
          <a:p>
            <a:pPr marL="12700" marR="344170">
              <a:lnSpc>
                <a:spcPts val="3750"/>
              </a:lnSpc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Attendance,</a:t>
            </a:r>
            <a:r>
              <a:rPr sz="3400" spc="-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notifications,</a:t>
            </a:r>
            <a:r>
              <a:rPr sz="3400" spc="-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0" dirty="0">
                <a:solidFill>
                  <a:srgbClr val="40349E"/>
                </a:solidFill>
                <a:latin typeface="Tahoma"/>
                <a:cs typeface="Tahoma"/>
              </a:rPr>
              <a:t>complaints</a:t>
            </a:r>
            <a:r>
              <a:rPr sz="3400" spc="-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are</a:t>
            </a:r>
            <a:r>
              <a:rPr sz="3400" spc="-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5" dirty="0">
                <a:solidFill>
                  <a:srgbClr val="40349E"/>
                </a:solidFill>
                <a:latin typeface="Tahoma"/>
                <a:cs typeface="Tahoma"/>
              </a:rPr>
              <a:t>included</a:t>
            </a:r>
            <a:r>
              <a:rPr sz="3400" spc="-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25" dirty="0">
                <a:solidFill>
                  <a:srgbClr val="40349E"/>
                </a:solidFill>
                <a:latin typeface="Tahoma"/>
                <a:cs typeface="Tahoma"/>
              </a:rPr>
              <a:t>to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support</a:t>
            </a:r>
            <a:r>
              <a:rPr sz="3400" spc="-25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sz="3400" spc="-25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35" dirty="0">
                <a:solidFill>
                  <a:srgbClr val="40349E"/>
                </a:solidFill>
                <a:latin typeface="Tahoma"/>
                <a:cs typeface="Tahoma"/>
              </a:rPr>
              <a:t>services.</a:t>
            </a:r>
            <a:endParaRPr sz="3400">
              <a:latin typeface="Tahoma"/>
              <a:cs typeface="Tahoma"/>
            </a:endParaRPr>
          </a:p>
          <a:p>
            <a:pPr marL="12700" marR="5080">
              <a:lnSpc>
                <a:spcPts val="3750"/>
              </a:lnSpc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sz="34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dataset</a:t>
            </a:r>
            <a:r>
              <a:rPr sz="34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contains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20" dirty="0">
                <a:solidFill>
                  <a:srgbClr val="40349E"/>
                </a:solidFill>
                <a:latin typeface="Tahoma"/>
                <a:cs typeface="Tahoma"/>
              </a:rPr>
              <a:t>2,500</a:t>
            </a:r>
            <a:r>
              <a:rPr sz="34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sz="34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80" dirty="0">
                <a:solidFill>
                  <a:srgbClr val="40349E"/>
                </a:solidFill>
                <a:latin typeface="Tahoma"/>
                <a:cs typeface="Tahoma"/>
              </a:rPr>
              <a:t>200</a:t>
            </a:r>
            <a:r>
              <a:rPr sz="34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events</a:t>
            </a:r>
            <a:r>
              <a:rPr sz="34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20" dirty="0">
                <a:solidFill>
                  <a:srgbClr val="40349E"/>
                </a:solidFill>
                <a:latin typeface="Tahoma"/>
                <a:cs typeface="Tahoma"/>
              </a:rPr>
              <a:t>with </a:t>
            </a:r>
            <a:r>
              <a:rPr sz="3400" spc="80" dirty="0">
                <a:solidFill>
                  <a:srgbClr val="40349E"/>
                </a:solidFill>
                <a:latin typeface="Tahoma"/>
                <a:cs typeface="Tahoma"/>
              </a:rPr>
              <a:t>multiple</a:t>
            </a:r>
            <a:r>
              <a:rPr sz="3400" spc="-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registrations</a:t>
            </a:r>
            <a:r>
              <a:rPr sz="3400" spc="-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sessions.</a:t>
            </a:r>
            <a:endParaRPr sz="3400">
              <a:latin typeface="Tahoma"/>
              <a:cs typeface="Tahoma"/>
            </a:endParaRPr>
          </a:p>
          <a:p>
            <a:pPr marL="12700" marR="105410">
              <a:lnSpc>
                <a:spcPts val="3750"/>
              </a:lnSpc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Registration</a:t>
            </a:r>
            <a:r>
              <a:rPr sz="3400" spc="-1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transaction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data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are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5" dirty="0">
                <a:solidFill>
                  <a:srgbClr val="40349E"/>
                </a:solidFill>
                <a:latin typeface="Tahoma"/>
                <a:cs typeface="Tahoma"/>
              </a:rPr>
              <a:t>used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34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0" dirty="0">
                <a:solidFill>
                  <a:srgbClr val="40349E"/>
                </a:solidFill>
                <a:latin typeface="Tahoma"/>
                <a:cs typeface="Tahoma"/>
              </a:rPr>
              <a:t>demonstrate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database</a:t>
            </a:r>
            <a:r>
              <a:rPr sz="34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transactions</a:t>
            </a:r>
            <a:r>
              <a:rPr sz="34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seat</a:t>
            </a:r>
            <a:r>
              <a:rPr sz="34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35" dirty="0">
                <a:solidFill>
                  <a:srgbClr val="40349E"/>
                </a:solidFill>
                <a:latin typeface="Tahoma"/>
                <a:cs typeface="Tahoma"/>
              </a:rPr>
              <a:t>allocation.</a:t>
            </a:r>
            <a:endParaRPr sz="3400">
              <a:latin typeface="Tahoma"/>
              <a:cs typeface="Tahoma"/>
            </a:endParaRPr>
          </a:p>
          <a:p>
            <a:pPr marL="12700" marR="351155">
              <a:lnSpc>
                <a:spcPts val="3750"/>
              </a:lnSpc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sz="34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dataset</a:t>
            </a:r>
            <a:r>
              <a:rPr sz="34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00" dirty="0">
                <a:solidFill>
                  <a:srgbClr val="40349E"/>
                </a:solidFill>
                <a:latin typeface="Tahoma"/>
                <a:cs typeface="Tahoma"/>
              </a:rPr>
              <a:t>is</a:t>
            </a:r>
            <a:r>
              <a:rPr sz="34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5" dirty="0">
                <a:solidFill>
                  <a:srgbClr val="40349E"/>
                </a:solidFill>
                <a:latin typeface="Tahoma"/>
                <a:cs typeface="Tahoma"/>
              </a:rPr>
              <a:t>used</a:t>
            </a:r>
            <a:r>
              <a:rPr sz="34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0" dirty="0">
                <a:solidFill>
                  <a:srgbClr val="40349E"/>
                </a:solidFill>
                <a:latin typeface="Tahoma"/>
                <a:cs typeface="Tahoma"/>
              </a:rPr>
              <a:t>as</a:t>
            </a:r>
            <a:r>
              <a:rPr sz="34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sz="34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input</a:t>
            </a:r>
            <a:r>
              <a:rPr sz="34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4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database</a:t>
            </a:r>
            <a:r>
              <a:rPr sz="34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design,</a:t>
            </a:r>
            <a:r>
              <a:rPr sz="34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25" dirty="0">
                <a:solidFill>
                  <a:srgbClr val="40349E"/>
                </a:solidFill>
                <a:latin typeface="Tahoma"/>
                <a:cs typeface="Tahoma"/>
              </a:rPr>
              <a:t>SQL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operations,</a:t>
            </a:r>
            <a:r>
              <a:rPr sz="34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20" dirty="0">
                <a:solidFill>
                  <a:srgbClr val="40349E"/>
                </a:solidFill>
                <a:latin typeface="Tahoma"/>
                <a:cs typeface="Tahoma"/>
              </a:rPr>
              <a:t>API</a:t>
            </a:r>
            <a:r>
              <a:rPr sz="34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development,</a:t>
            </a:r>
            <a:r>
              <a:rPr sz="34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5" dirty="0">
                <a:solidFill>
                  <a:srgbClr val="40349E"/>
                </a:solidFill>
                <a:latin typeface="Tahoma"/>
                <a:cs typeface="Tahoma"/>
              </a:rPr>
              <a:t>system</a:t>
            </a:r>
            <a:r>
              <a:rPr sz="34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testing.</a:t>
            </a:r>
            <a:endParaRPr sz="34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98483" y="9123849"/>
            <a:ext cx="152400" cy="1523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3048000" cy="17145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10190" cy="556212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74061" y="610184"/>
            <a:ext cx="16290925" cy="1294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300" spc="495" dirty="0"/>
              <a:t>IMPLEMENTATION</a:t>
            </a:r>
            <a:r>
              <a:rPr sz="8300" spc="65" dirty="0"/>
              <a:t> </a:t>
            </a:r>
            <a:r>
              <a:rPr sz="8300" spc="2590" dirty="0"/>
              <a:t>–</a:t>
            </a:r>
            <a:r>
              <a:rPr sz="8300" spc="65" dirty="0"/>
              <a:t> </a:t>
            </a:r>
            <a:r>
              <a:rPr sz="8300" spc="545" dirty="0"/>
              <a:t>MODULE</a:t>
            </a:r>
            <a:r>
              <a:rPr sz="8300" spc="70" dirty="0"/>
              <a:t> </a:t>
            </a:r>
            <a:r>
              <a:rPr sz="8300" spc="-1465" dirty="0"/>
              <a:t>1</a:t>
            </a:r>
            <a:endParaRPr sz="8300"/>
          </a:p>
        </p:txBody>
      </p:sp>
      <p:grpSp>
        <p:nvGrpSpPr>
          <p:cNvPr id="4" name="object 4"/>
          <p:cNvGrpSpPr/>
          <p:nvPr/>
        </p:nvGrpSpPr>
        <p:grpSpPr>
          <a:xfrm>
            <a:off x="2027341" y="4211983"/>
            <a:ext cx="200660" cy="1454150"/>
            <a:chOff x="2027341" y="4211983"/>
            <a:chExt cx="200660" cy="14541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7341" y="4211983"/>
              <a:ext cx="200557" cy="20055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7341" y="4838725"/>
              <a:ext cx="200557" cy="20055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27341" y="5465467"/>
              <a:ext cx="200557" cy="200557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7341" y="6092209"/>
            <a:ext cx="200557" cy="2005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7341" y="6718951"/>
            <a:ext cx="200557" cy="20055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7341" y="7345692"/>
            <a:ext cx="200557" cy="2005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502912" y="2484120"/>
            <a:ext cx="12678410" cy="5288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95"/>
              </a:spcBef>
            </a:pPr>
            <a:r>
              <a:rPr sz="6400" b="1" spc="320" dirty="0">
                <a:solidFill>
                  <a:srgbClr val="40349E"/>
                </a:solidFill>
                <a:latin typeface="Trebuchet MS"/>
                <a:cs typeface="Trebuchet MS"/>
              </a:rPr>
              <a:t>EVENT</a:t>
            </a:r>
            <a:r>
              <a:rPr sz="6400" b="1" spc="-10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-455" dirty="0">
                <a:solidFill>
                  <a:srgbClr val="40349E"/>
                </a:solidFill>
                <a:latin typeface="Trebuchet MS"/>
                <a:cs typeface="Trebuchet MS"/>
              </a:rPr>
              <a:t>&amp;</a:t>
            </a:r>
            <a:r>
              <a:rPr sz="6400" b="1" spc="-170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330" dirty="0">
                <a:solidFill>
                  <a:srgbClr val="40349E"/>
                </a:solidFill>
                <a:latin typeface="Trebuchet MS"/>
                <a:cs typeface="Trebuchet MS"/>
              </a:rPr>
              <a:t>VENUE</a:t>
            </a:r>
            <a:r>
              <a:rPr sz="6400" b="1" spc="3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395" dirty="0">
                <a:solidFill>
                  <a:srgbClr val="40349E"/>
                </a:solidFill>
                <a:latin typeface="Trebuchet MS"/>
                <a:cs typeface="Trebuchet MS"/>
              </a:rPr>
              <a:t>MANAGEMENT</a:t>
            </a:r>
            <a:endParaRPr sz="6400">
              <a:latin typeface="Trebuchet MS"/>
              <a:cs typeface="Trebuchet MS"/>
            </a:endParaRPr>
          </a:p>
          <a:p>
            <a:pPr marL="12700" marR="4974590">
              <a:lnSpc>
                <a:spcPts val="4930"/>
              </a:lnSpc>
              <a:spcBef>
                <a:spcPts val="4255"/>
              </a:spcBef>
            </a:pPr>
            <a:r>
              <a:rPr sz="4450" spc="140" dirty="0">
                <a:solidFill>
                  <a:srgbClr val="40349E"/>
                </a:solidFill>
                <a:latin typeface="Tahoma"/>
                <a:cs typeface="Tahoma"/>
              </a:rPr>
              <a:t>Add</a:t>
            </a:r>
            <a:r>
              <a:rPr sz="4450" spc="-2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65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4450" spc="-2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dirty="0">
                <a:solidFill>
                  <a:srgbClr val="40349E"/>
                </a:solidFill>
                <a:latin typeface="Tahoma"/>
                <a:cs typeface="Tahoma"/>
              </a:rPr>
              <a:t>manage</a:t>
            </a:r>
            <a:r>
              <a:rPr sz="4450" spc="-2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5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4450" spc="-2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100" dirty="0">
                <a:solidFill>
                  <a:srgbClr val="40349E"/>
                </a:solidFill>
                <a:latin typeface="Tahoma"/>
                <a:cs typeface="Tahoma"/>
              </a:rPr>
              <a:t>details </a:t>
            </a:r>
            <a:r>
              <a:rPr sz="4450" spc="90" dirty="0">
                <a:solidFill>
                  <a:srgbClr val="40349E"/>
                </a:solidFill>
                <a:latin typeface="Tahoma"/>
                <a:cs typeface="Tahoma"/>
              </a:rPr>
              <a:t>Assign</a:t>
            </a:r>
            <a:r>
              <a:rPr sz="4450" spc="-3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dirty="0">
                <a:solidFill>
                  <a:srgbClr val="40349E"/>
                </a:solidFill>
                <a:latin typeface="Tahoma"/>
                <a:cs typeface="Tahoma"/>
              </a:rPr>
              <a:t>a</a:t>
            </a:r>
            <a:r>
              <a:rPr sz="4450" spc="-3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70" dirty="0">
                <a:solidFill>
                  <a:srgbClr val="40349E"/>
                </a:solidFill>
                <a:latin typeface="Tahoma"/>
                <a:cs typeface="Tahoma"/>
              </a:rPr>
              <a:t>unique</a:t>
            </a:r>
            <a:r>
              <a:rPr sz="4450" spc="-3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55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4450" spc="-3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-25" dirty="0">
                <a:solidFill>
                  <a:srgbClr val="40349E"/>
                </a:solidFill>
                <a:latin typeface="Tahoma"/>
                <a:cs typeface="Tahoma"/>
              </a:rPr>
              <a:t>ID</a:t>
            </a:r>
            <a:endParaRPr sz="4450">
              <a:latin typeface="Tahoma"/>
              <a:cs typeface="Tahoma"/>
            </a:endParaRPr>
          </a:p>
          <a:p>
            <a:pPr marL="12700" marR="2366010">
              <a:lnSpc>
                <a:spcPts val="4930"/>
              </a:lnSpc>
              <a:spcBef>
                <a:spcPts val="10"/>
              </a:spcBef>
            </a:pPr>
            <a:r>
              <a:rPr sz="4450" spc="90" dirty="0">
                <a:solidFill>
                  <a:srgbClr val="40349E"/>
                </a:solidFill>
                <a:latin typeface="Tahoma"/>
                <a:cs typeface="Tahoma"/>
              </a:rPr>
              <a:t>Assign</a:t>
            </a:r>
            <a:r>
              <a:rPr sz="4450" spc="-2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dirty="0">
                <a:solidFill>
                  <a:srgbClr val="40349E"/>
                </a:solidFill>
                <a:latin typeface="Tahoma"/>
                <a:cs typeface="Tahoma"/>
              </a:rPr>
              <a:t>a</a:t>
            </a:r>
            <a:r>
              <a:rPr sz="4450" spc="-2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80" dirty="0">
                <a:solidFill>
                  <a:srgbClr val="40349E"/>
                </a:solidFill>
                <a:latin typeface="Tahoma"/>
                <a:cs typeface="Tahoma"/>
              </a:rPr>
              <a:t>separate</a:t>
            </a:r>
            <a:r>
              <a:rPr sz="4450" spc="-2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dirty="0">
                <a:solidFill>
                  <a:srgbClr val="40349E"/>
                </a:solidFill>
                <a:latin typeface="Tahoma"/>
                <a:cs typeface="Tahoma"/>
              </a:rPr>
              <a:t>venue</a:t>
            </a:r>
            <a:r>
              <a:rPr sz="4450" spc="-2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4450" spc="-2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85" dirty="0">
                <a:solidFill>
                  <a:srgbClr val="40349E"/>
                </a:solidFill>
                <a:latin typeface="Tahoma"/>
                <a:cs typeface="Tahoma"/>
              </a:rPr>
              <a:t>each</a:t>
            </a:r>
            <a:r>
              <a:rPr sz="4450" spc="-2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40" dirty="0">
                <a:solidFill>
                  <a:srgbClr val="40349E"/>
                </a:solidFill>
                <a:latin typeface="Tahoma"/>
                <a:cs typeface="Tahoma"/>
              </a:rPr>
              <a:t>event </a:t>
            </a:r>
            <a:r>
              <a:rPr sz="4450" spc="70" dirty="0">
                <a:solidFill>
                  <a:srgbClr val="40349E"/>
                </a:solidFill>
                <a:latin typeface="Tahoma"/>
                <a:cs typeface="Tahoma"/>
              </a:rPr>
              <a:t>Store</a:t>
            </a:r>
            <a:r>
              <a:rPr sz="4450" spc="-2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dirty="0">
                <a:solidFill>
                  <a:srgbClr val="40349E"/>
                </a:solidFill>
                <a:latin typeface="Tahoma"/>
                <a:cs typeface="Tahoma"/>
              </a:rPr>
              <a:t>venue</a:t>
            </a:r>
            <a:r>
              <a:rPr sz="4450" spc="-2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dirty="0">
                <a:solidFill>
                  <a:srgbClr val="40349E"/>
                </a:solidFill>
                <a:latin typeface="Tahoma"/>
                <a:cs typeface="Tahoma"/>
              </a:rPr>
              <a:t>name,</a:t>
            </a:r>
            <a:r>
              <a:rPr sz="4450" spc="-2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95" dirty="0">
                <a:solidFill>
                  <a:srgbClr val="40349E"/>
                </a:solidFill>
                <a:latin typeface="Tahoma"/>
                <a:cs typeface="Tahoma"/>
              </a:rPr>
              <a:t>location</a:t>
            </a:r>
            <a:r>
              <a:rPr sz="4450" spc="-2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65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4450" spc="-2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80" dirty="0">
                <a:solidFill>
                  <a:srgbClr val="40349E"/>
                </a:solidFill>
                <a:latin typeface="Tahoma"/>
                <a:cs typeface="Tahoma"/>
              </a:rPr>
              <a:t>capacity </a:t>
            </a:r>
            <a:r>
              <a:rPr sz="4450" spc="75" dirty="0">
                <a:solidFill>
                  <a:srgbClr val="40349E"/>
                </a:solidFill>
                <a:latin typeface="Tahoma"/>
                <a:cs typeface="Tahoma"/>
              </a:rPr>
              <a:t>Maintain</a:t>
            </a:r>
            <a:r>
              <a:rPr sz="4450" spc="-2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5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4450" spc="-2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dirty="0">
                <a:solidFill>
                  <a:srgbClr val="40349E"/>
                </a:solidFill>
                <a:latin typeface="Tahoma"/>
                <a:cs typeface="Tahoma"/>
              </a:rPr>
              <a:t>category</a:t>
            </a:r>
            <a:r>
              <a:rPr sz="4450" spc="-2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65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445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105" dirty="0">
                <a:solidFill>
                  <a:srgbClr val="40349E"/>
                </a:solidFill>
                <a:latin typeface="Tahoma"/>
                <a:cs typeface="Tahoma"/>
              </a:rPr>
              <a:t>schedule </a:t>
            </a:r>
            <a:r>
              <a:rPr sz="4450" spc="80" dirty="0">
                <a:solidFill>
                  <a:srgbClr val="40349E"/>
                </a:solidFill>
                <a:latin typeface="Tahoma"/>
                <a:cs typeface="Tahoma"/>
              </a:rPr>
              <a:t>Display</a:t>
            </a:r>
            <a:r>
              <a:rPr sz="4450" spc="-3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85" dirty="0">
                <a:solidFill>
                  <a:srgbClr val="40349E"/>
                </a:solidFill>
                <a:latin typeface="Tahoma"/>
                <a:cs typeface="Tahoma"/>
              </a:rPr>
              <a:t>available</a:t>
            </a:r>
            <a:r>
              <a:rPr sz="4450" spc="-3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70" dirty="0">
                <a:solidFill>
                  <a:srgbClr val="40349E"/>
                </a:solidFill>
                <a:latin typeface="Tahoma"/>
                <a:cs typeface="Tahoma"/>
              </a:rPr>
              <a:t>events</a:t>
            </a:r>
            <a:r>
              <a:rPr sz="4450" spc="-3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70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4450" spc="-3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75" dirty="0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endParaRPr sz="4450">
              <a:latin typeface="Tahoma"/>
              <a:cs typeface="Tahoma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0"/>
            <a:ext cx="1789647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355149" cy="495316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28151" y="609611"/>
            <a:ext cx="17464405" cy="137024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800" spc="525" dirty="0"/>
              <a:t>IMPLEMENTATION</a:t>
            </a:r>
            <a:r>
              <a:rPr sz="8800" spc="60" dirty="0"/>
              <a:t> </a:t>
            </a:r>
            <a:r>
              <a:rPr sz="8800" spc="2750" dirty="0"/>
              <a:t>–</a:t>
            </a:r>
            <a:r>
              <a:rPr sz="8800" spc="65" dirty="0"/>
              <a:t> </a:t>
            </a:r>
            <a:r>
              <a:rPr sz="8800" spc="580" dirty="0"/>
              <a:t>MODULE</a:t>
            </a:r>
            <a:r>
              <a:rPr sz="8800" spc="65" dirty="0"/>
              <a:t> </a:t>
            </a:r>
            <a:r>
              <a:rPr sz="8800" dirty="0"/>
              <a:t>2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265496" y="4397611"/>
            <a:ext cx="188595" cy="777240"/>
            <a:chOff x="2265496" y="4397611"/>
            <a:chExt cx="188595" cy="7772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5496" y="4397611"/>
              <a:ext cx="188324" cy="1883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5496" y="4986126"/>
              <a:ext cx="188324" cy="18832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5496" y="5574641"/>
            <a:ext cx="188324" cy="1883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5496" y="6163156"/>
            <a:ext cx="188324" cy="1883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65496" y="6751671"/>
            <a:ext cx="188324" cy="1883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5496" y="7340186"/>
            <a:ext cx="188324" cy="1883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04652" y="2686532"/>
            <a:ext cx="15078710" cy="505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400" b="1" spc="315" dirty="0">
                <a:solidFill>
                  <a:srgbClr val="40349E"/>
                </a:solidFill>
                <a:latin typeface="Trebuchet MS"/>
                <a:cs typeface="Trebuchet MS"/>
              </a:rPr>
              <a:t>R</a:t>
            </a:r>
            <a:r>
              <a:rPr sz="6400" b="1" spc="265" dirty="0">
                <a:solidFill>
                  <a:srgbClr val="40349E"/>
                </a:solidFill>
                <a:latin typeface="Trebuchet MS"/>
                <a:cs typeface="Trebuchet MS"/>
              </a:rPr>
              <a:t>E</a:t>
            </a:r>
            <a:r>
              <a:rPr sz="6400" b="1" spc="315" dirty="0">
                <a:solidFill>
                  <a:srgbClr val="40349E"/>
                </a:solidFill>
                <a:latin typeface="Trebuchet MS"/>
                <a:cs typeface="Trebuchet MS"/>
              </a:rPr>
              <a:t>G</a:t>
            </a:r>
            <a:r>
              <a:rPr sz="6400" b="1" spc="320" dirty="0">
                <a:solidFill>
                  <a:srgbClr val="40349E"/>
                </a:solidFill>
                <a:latin typeface="Trebuchet MS"/>
                <a:cs typeface="Trebuchet MS"/>
              </a:rPr>
              <a:t>I</a:t>
            </a:r>
            <a:r>
              <a:rPr sz="6400" b="1" spc="220" dirty="0">
                <a:solidFill>
                  <a:srgbClr val="40349E"/>
                </a:solidFill>
                <a:latin typeface="Trebuchet MS"/>
                <a:cs typeface="Trebuchet MS"/>
              </a:rPr>
              <a:t>S</a:t>
            </a:r>
            <a:r>
              <a:rPr sz="6400" b="1" spc="315" dirty="0">
                <a:solidFill>
                  <a:srgbClr val="40349E"/>
                </a:solidFill>
                <a:latin typeface="Trebuchet MS"/>
                <a:cs typeface="Trebuchet MS"/>
              </a:rPr>
              <a:t>TR</a:t>
            </a:r>
            <a:r>
              <a:rPr sz="6400" b="1" spc="-195" dirty="0">
                <a:solidFill>
                  <a:srgbClr val="40349E"/>
                </a:solidFill>
                <a:latin typeface="Trebuchet MS"/>
                <a:cs typeface="Trebuchet MS"/>
              </a:rPr>
              <a:t>A</a:t>
            </a:r>
            <a:r>
              <a:rPr sz="6400" b="1" spc="315" dirty="0">
                <a:solidFill>
                  <a:srgbClr val="40349E"/>
                </a:solidFill>
                <a:latin typeface="Trebuchet MS"/>
                <a:cs typeface="Trebuchet MS"/>
              </a:rPr>
              <a:t>T</a:t>
            </a:r>
            <a:r>
              <a:rPr sz="6400" b="1" spc="320" dirty="0">
                <a:solidFill>
                  <a:srgbClr val="40349E"/>
                </a:solidFill>
                <a:latin typeface="Trebuchet MS"/>
                <a:cs typeface="Trebuchet MS"/>
              </a:rPr>
              <a:t>I</a:t>
            </a:r>
            <a:r>
              <a:rPr sz="6400" b="1" spc="315" dirty="0">
                <a:solidFill>
                  <a:srgbClr val="40349E"/>
                </a:solidFill>
                <a:latin typeface="Trebuchet MS"/>
                <a:cs typeface="Trebuchet MS"/>
              </a:rPr>
              <a:t>O</a:t>
            </a:r>
            <a:r>
              <a:rPr sz="6400" b="1" spc="320" dirty="0">
                <a:solidFill>
                  <a:srgbClr val="40349E"/>
                </a:solidFill>
                <a:latin typeface="Trebuchet MS"/>
                <a:cs typeface="Trebuchet MS"/>
              </a:rPr>
              <a:t>N</a:t>
            </a:r>
            <a:r>
              <a:rPr sz="6400" b="1" spc="20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-455" dirty="0">
                <a:solidFill>
                  <a:srgbClr val="40349E"/>
                </a:solidFill>
                <a:latin typeface="Trebuchet MS"/>
                <a:cs typeface="Trebuchet MS"/>
              </a:rPr>
              <a:t>&amp;</a:t>
            </a:r>
            <a:r>
              <a:rPr sz="6400" b="1" spc="30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380" dirty="0">
                <a:solidFill>
                  <a:srgbClr val="40349E"/>
                </a:solidFill>
                <a:latin typeface="Trebuchet MS"/>
                <a:cs typeface="Trebuchet MS"/>
              </a:rPr>
              <a:t>SE</a:t>
            </a:r>
            <a:r>
              <a:rPr sz="6400" b="1" spc="-130" dirty="0">
                <a:solidFill>
                  <a:srgbClr val="40349E"/>
                </a:solidFill>
                <a:latin typeface="Trebuchet MS"/>
                <a:cs typeface="Trebuchet MS"/>
              </a:rPr>
              <a:t>A</a:t>
            </a:r>
            <a:r>
              <a:rPr sz="6400" b="1" spc="385" dirty="0">
                <a:solidFill>
                  <a:srgbClr val="40349E"/>
                </a:solidFill>
                <a:latin typeface="Trebuchet MS"/>
                <a:cs typeface="Trebuchet MS"/>
              </a:rPr>
              <a:t>T</a:t>
            </a:r>
            <a:r>
              <a:rPr sz="6400" b="1" spc="-114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405" dirty="0">
                <a:solidFill>
                  <a:srgbClr val="40349E"/>
                </a:solidFill>
                <a:latin typeface="Trebuchet MS"/>
                <a:cs typeface="Trebuchet MS"/>
              </a:rPr>
              <a:t>MANAGEMENT</a:t>
            </a:r>
            <a:endParaRPr sz="6400" dirty="0">
              <a:latin typeface="Trebuchet MS"/>
              <a:cs typeface="Trebuchet MS"/>
            </a:endParaRPr>
          </a:p>
          <a:p>
            <a:pPr marL="1118870" marR="3571875">
              <a:lnSpc>
                <a:spcPts val="4630"/>
              </a:lnSpc>
              <a:spcBef>
                <a:spcPts val="4210"/>
              </a:spcBef>
            </a:pPr>
            <a:r>
              <a:rPr sz="4200" spc="80" dirty="0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sz="4200" spc="-3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65" dirty="0">
                <a:solidFill>
                  <a:srgbClr val="40349E"/>
                </a:solidFill>
                <a:latin typeface="Tahoma"/>
                <a:cs typeface="Tahoma"/>
              </a:rPr>
              <a:t>enters</a:t>
            </a:r>
            <a:r>
              <a:rPr sz="4200" spc="-3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70" dirty="0">
                <a:solidFill>
                  <a:srgbClr val="40349E"/>
                </a:solidFill>
                <a:latin typeface="Tahoma"/>
                <a:cs typeface="Tahoma"/>
              </a:rPr>
              <a:t>personal</a:t>
            </a:r>
            <a:r>
              <a:rPr sz="4200" spc="-3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90" dirty="0">
                <a:solidFill>
                  <a:srgbClr val="40349E"/>
                </a:solidFill>
                <a:latin typeface="Tahoma"/>
                <a:cs typeface="Tahoma"/>
              </a:rPr>
              <a:t>details</a:t>
            </a:r>
            <a:r>
              <a:rPr sz="4200" spc="-3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65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4200" spc="-3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-10" dirty="0">
                <a:solidFill>
                  <a:srgbClr val="40349E"/>
                </a:solidFill>
                <a:latin typeface="Tahoma"/>
                <a:cs typeface="Tahoma"/>
              </a:rPr>
              <a:t>register </a:t>
            </a:r>
            <a:r>
              <a:rPr sz="4200" spc="55" dirty="0">
                <a:solidFill>
                  <a:srgbClr val="40349E"/>
                </a:solidFill>
                <a:latin typeface="Tahoma"/>
                <a:cs typeface="Tahoma"/>
              </a:rPr>
              <a:t>Generate</a:t>
            </a:r>
            <a:r>
              <a:rPr sz="4200" spc="-3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50" dirty="0">
                <a:solidFill>
                  <a:srgbClr val="40349E"/>
                </a:solidFill>
                <a:latin typeface="Tahoma"/>
                <a:cs typeface="Tahoma"/>
              </a:rPr>
              <a:t>unique</a:t>
            </a:r>
            <a:r>
              <a:rPr sz="4200" spc="-3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45" dirty="0">
                <a:solidFill>
                  <a:srgbClr val="40349E"/>
                </a:solidFill>
                <a:latin typeface="Tahoma"/>
                <a:cs typeface="Tahoma"/>
              </a:rPr>
              <a:t>Registration</a:t>
            </a:r>
            <a:r>
              <a:rPr sz="4200" spc="-3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-25" dirty="0">
                <a:solidFill>
                  <a:srgbClr val="40349E"/>
                </a:solidFill>
                <a:latin typeface="Tahoma"/>
                <a:cs typeface="Tahoma"/>
              </a:rPr>
              <a:t>ID</a:t>
            </a:r>
            <a:endParaRPr sz="4200" dirty="0">
              <a:latin typeface="Tahoma"/>
              <a:cs typeface="Tahoma"/>
            </a:endParaRPr>
          </a:p>
          <a:p>
            <a:pPr marL="1118870">
              <a:lnSpc>
                <a:spcPts val="4350"/>
              </a:lnSpc>
            </a:pPr>
            <a:r>
              <a:rPr sz="4200" spc="55" dirty="0">
                <a:solidFill>
                  <a:srgbClr val="40349E"/>
                </a:solidFill>
                <a:latin typeface="Tahoma"/>
                <a:cs typeface="Tahoma"/>
              </a:rPr>
              <a:t>Maintain</a:t>
            </a:r>
            <a:r>
              <a:rPr sz="4200" spc="-2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60" dirty="0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sz="4200" spc="-2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4200" spc="-229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4200" spc="-2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55" dirty="0">
                <a:solidFill>
                  <a:srgbClr val="40349E"/>
                </a:solidFill>
                <a:latin typeface="Tahoma"/>
                <a:cs typeface="Tahoma"/>
              </a:rPr>
              <a:t>relationship</a:t>
            </a:r>
            <a:endParaRPr sz="4200" dirty="0">
              <a:latin typeface="Tahoma"/>
              <a:cs typeface="Tahoma"/>
            </a:endParaRPr>
          </a:p>
          <a:p>
            <a:pPr marL="1118870" marR="1946910">
              <a:lnSpc>
                <a:spcPts val="4630"/>
              </a:lnSpc>
              <a:spcBef>
                <a:spcPts val="295"/>
              </a:spcBef>
            </a:pPr>
            <a:r>
              <a:rPr sz="4200" spc="114" dirty="0">
                <a:solidFill>
                  <a:srgbClr val="40349E"/>
                </a:solidFill>
                <a:latin typeface="Tahoma"/>
                <a:cs typeface="Tahoma"/>
              </a:rPr>
              <a:t>Process</a:t>
            </a:r>
            <a:r>
              <a:rPr sz="4200" spc="-3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75" dirty="0">
                <a:solidFill>
                  <a:srgbClr val="40349E"/>
                </a:solidFill>
                <a:latin typeface="Tahoma"/>
                <a:cs typeface="Tahoma"/>
              </a:rPr>
              <a:t>seat</a:t>
            </a:r>
            <a:r>
              <a:rPr sz="4200" spc="-3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80" dirty="0">
                <a:solidFill>
                  <a:srgbClr val="40349E"/>
                </a:solidFill>
                <a:latin typeface="Tahoma"/>
                <a:cs typeface="Tahoma"/>
              </a:rPr>
              <a:t>allocation</a:t>
            </a:r>
            <a:r>
              <a:rPr sz="4200" spc="-3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4200" spc="-3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65" dirty="0">
                <a:solidFill>
                  <a:srgbClr val="40349E"/>
                </a:solidFill>
                <a:latin typeface="Tahoma"/>
                <a:cs typeface="Tahoma"/>
              </a:rPr>
              <a:t>confirmed</a:t>
            </a:r>
            <a:r>
              <a:rPr sz="4200" spc="-3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40" dirty="0">
                <a:solidFill>
                  <a:srgbClr val="40349E"/>
                </a:solidFill>
                <a:latin typeface="Tahoma"/>
                <a:cs typeface="Tahoma"/>
              </a:rPr>
              <a:t>registrations </a:t>
            </a:r>
            <a:r>
              <a:rPr sz="4200" spc="70" dirty="0">
                <a:solidFill>
                  <a:srgbClr val="40349E"/>
                </a:solidFill>
                <a:latin typeface="Tahoma"/>
                <a:cs typeface="Tahoma"/>
              </a:rPr>
              <a:t>Assign</a:t>
            </a:r>
            <a:r>
              <a:rPr sz="4200" spc="-2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50" dirty="0">
                <a:solidFill>
                  <a:srgbClr val="40349E"/>
                </a:solidFill>
                <a:latin typeface="Tahoma"/>
                <a:cs typeface="Tahoma"/>
              </a:rPr>
              <a:t>unique</a:t>
            </a:r>
            <a:r>
              <a:rPr sz="4200" spc="-2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60" dirty="0">
                <a:solidFill>
                  <a:srgbClr val="40349E"/>
                </a:solidFill>
                <a:latin typeface="Tahoma"/>
                <a:cs typeface="Tahoma"/>
              </a:rPr>
              <a:t>Seat</a:t>
            </a:r>
            <a:r>
              <a:rPr sz="4200" spc="-2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dirty="0">
                <a:solidFill>
                  <a:srgbClr val="40349E"/>
                </a:solidFill>
                <a:latin typeface="Tahoma"/>
                <a:cs typeface="Tahoma"/>
              </a:rPr>
              <a:t>ID</a:t>
            </a:r>
            <a:r>
              <a:rPr sz="4200" spc="-2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4200" spc="-2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60" dirty="0">
                <a:solidFill>
                  <a:srgbClr val="40349E"/>
                </a:solidFill>
                <a:latin typeface="Tahoma"/>
                <a:cs typeface="Tahoma"/>
              </a:rPr>
              <a:t>Seat</a:t>
            </a:r>
            <a:r>
              <a:rPr sz="4200" spc="-2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60" dirty="0">
                <a:solidFill>
                  <a:srgbClr val="40349E"/>
                </a:solidFill>
                <a:latin typeface="Tahoma"/>
                <a:cs typeface="Tahoma"/>
              </a:rPr>
              <a:t>Number</a:t>
            </a:r>
            <a:endParaRPr sz="4200" dirty="0">
              <a:latin typeface="Tahoma"/>
              <a:cs typeface="Tahoma"/>
            </a:endParaRPr>
          </a:p>
          <a:p>
            <a:pPr marL="1118870">
              <a:lnSpc>
                <a:spcPts val="4550"/>
              </a:lnSpc>
            </a:pPr>
            <a:r>
              <a:rPr sz="4200" dirty="0">
                <a:solidFill>
                  <a:srgbClr val="40349E"/>
                </a:solidFill>
                <a:latin typeface="Tahoma"/>
                <a:cs typeface="Tahoma"/>
              </a:rPr>
              <a:t>Track</a:t>
            </a:r>
            <a:r>
              <a:rPr sz="4200" spc="-11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dirty="0">
                <a:solidFill>
                  <a:srgbClr val="40349E"/>
                </a:solidFill>
                <a:latin typeface="Tahoma"/>
                <a:cs typeface="Tahoma"/>
              </a:rPr>
              <a:t>registration</a:t>
            </a:r>
            <a:r>
              <a:rPr sz="4200" spc="-1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4200" spc="-11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75" dirty="0">
                <a:solidFill>
                  <a:srgbClr val="40349E"/>
                </a:solidFill>
                <a:latin typeface="Tahoma"/>
                <a:cs typeface="Tahoma"/>
              </a:rPr>
              <a:t>seat</a:t>
            </a:r>
            <a:r>
              <a:rPr sz="4200" spc="-1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200" spc="65" dirty="0">
                <a:solidFill>
                  <a:srgbClr val="40349E"/>
                </a:solidFill>
                <a:latin typeface="Tahoma"/>
                <a:cs typeface="Tahoma"/>
              </a:rPr>
              <a:t>status</a:t>
            </a:r>
            <a:endParaRPr sz="4200" dirty="0">
              <a:latin typeface="Tahoma"/>
              <a:cs typeface="Tahoma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725"/>
            <a:ext cx="1676400" cy="7693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355149" cy="495316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29342" y="609611"/>
            <a:ext cx="17462500" cy="1370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800" spc="525" dirty="0"/>
              <a:t>IMPLEMENTATION</a:t>
            </a:r>
            <a:r>
              <a:rPr sz="8800" spc="60" dirty="0"/>
              <a:t> </a:t>
            </a:r>
            <a:r>
              <a:rPr sz="8800" spc="2750" dirty="0"/>
              <a:t>–</a:t>
            </a:r>
            <a:r>
              <a:rPr sz="8800" spc="65" dirty="0"/>
              <a:t> </a:t>
            </a:r>
            <a:r>
              <a:rPr sz="8800" spc="580" dirty="0"/>
              <a:t>MODULE</a:t>
            </a:r>
            <a:r>
              <a:rPr sz="8800" spc="65" dirty="0"/>
              <a:t> </a:t>
            </a:r>
            <a:r>
              <a:rPr sz="8800" spc="-50" dirty="0"/>
              <a:t>3</a:t>
            </a:r>
            <a:endParaRPr sz="88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5102" y="4788187"/>
            <a:ext cx="199405" cy="19940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5102" y="5411330"/>
            <a:ext cx="199405" cy="19940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5102" y="6034473"/>
            <a:ext cx="199405" cy="19940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5102" y="6657616"/>
            <a:ext cx="199405" cy="19940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5102" y="7280758"/>
            <a:ext cx="199405" cy="19940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5102" y="7903901"/>
            <a:ext cx="199405" cy="19940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817870" y="2148526"/>
            <a:ext cx="11692255" cy="618045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3399790" marR="51435" indent="-2380615">
              <a:lnSpc>
                <a:spcPts val="6530"/>
              </a:lnSpc>
              <a:spcBef>
                <a:spcPts val="1275"/>
              </a:spcBef>
            </a:pPr>
            <a:r>
              <a:rPr sz="6400" b="1" spc="310" dirty="0">
                <a:solidFill>
                  <a:srgbClr val="40349E"/>
                </a:solidFill>
                <a:latin typeface="Trebuchet MS"/>
                <a:cs typeface="Trebuchet MS"/>
              </a:rPr>
              <a:t>TRANSACTION</a:t>
            </a:r>
            <a:r>
              <a:rPr sz="6400" b="1" spc="40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-455" dirty="0">
                <a:solidFill>
                  <a:srgbClr val="40349E"/>
                </a:solidFill>
                <a:latin typeface="Trebuchet MS"/>
                <a:cs typeface="Trebuchet MS"/>
              </a:rPr>
              <a:t>&amp;</a:t>
            </a:r>
            <a:r>
              <a:rPr sz="6400" b="1" spc="40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320" dirty="0">
                <a:solidFill>
                  <a:srgbClr val="40349E"/>
                </a:solidFill>
                <a:latin typeface="Trebuchet MS"/>
                <a:cs typeface="Trebuchet MS"/>
              </a:rPr>
              <a:t>SUPPORT </a:t>
            </a:r>
            <a:r>
              <a:rPr sz="6400" b="1" spc="405" dirty="0">
                <a:solidFill>
                  <a:srgbClr val="40349E"/>
                </a:solidFill>
                <a:latin typeface="Trebuchet MS"/>
                <a:cs typeface="Trebuchet MS"/>
              </a:rPr>
              <a:t>MANAGEMENT</a:t>
            </a:r>
            <a:endParaRPr sz="6400">
              <a:latin typeface="Trebuchet MS"/>
              <a:cs typeface="Trebuchet MS"/>
            </a:endParaRPr>
          </a:p>
          <a:p>
            <a:pPr marL="12700" marR="2589530">
              <a:lnSpc>
                <a:spcPts val="4910"/>
              </a:lnSpc>
              <a:spcBef>
                <a:spcPts val="4875"/>
              </a:spcBef>
            </a:pPr>
            <a:r>
              <a:rPr sz="4450" spc="75" dirty="0">
                <a:solidFill>
                  <a:srgbClr val="40349E"/>
                </a:solidFill>
                <a:latin typeface="Tahoma"/>
                <a:cs typeface="Tahoma"/>
              </a:rPr>
              <a:t>Record</a:t>
            </a:r>
            <a:r>
              <a:rPr sz="4450" spc="-2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50" dirty="0">
                <a:solidFill>
                  <a:srgbClr val="40349E"/>
                </a:solidFill>
                <a:latin typeface="Tahoma"/>
                <a:cs typeface="Tahoma"/>
              </a:rPr>
              <a:t>payment/transaction</a:t>
            </a:r>
            <a:r>
              <a:rPr sz="4450" spc="-2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85" dirty="0">
                <a:solidFill>
                  <a:srgbClr val="40349E"/>
                </a:solidFill>
                <a:latin typeface="Tahoma"/>
                <a:cs typeface="Tahoma"/>
              </a:rPr>
              <a:t>details </a:t>
            </a:r>
            <a:r>
              <a:rPr sz="4450" spc="55" dirty="0">
                <a:solidFill>
                  <a:srgbClr val="40349E"/>
                </a:solidFill>
                <a:latin typeface="Tahoma"/>
                <a:cs typeface="Tahoma"/>
              </a:rPr>
              <a:t>Maintain</a:t>
            </a:r>
            <a:r>
              <a:rPr sz="4450" spc="-3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60" dirty="0">
                <a:solidFill>
                  <a:srgbClr val="40349E"/>
                </a:solidFill>
                <a:latin typeface="Tahoma"/>
                <a:cs typeface="Tahoma"/>
              </a:rPr>
              <a:t>transaction</a:t>
            </a:r>
            <a:r>
              <a:rPr sz="4450" spc="-3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65" dirty="0">
                <a:solidFill>
                  <a:srgbClr val="40349E"/>
                </a:solidFill>
                <a:latin typeface="Tahoma"/>
                <a:cs typeface="Tahoma"/>
              </a:rPr>
              <a:t>status</a:t>
            </a:r>
            <a:r>
              <a:rPr sz="4450" spc="11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65" dirty="0">
                <a:solidFill>
                  <a:srgbClr val="40349E"/>
                </a:solidFill>
                <a:latin typeface="Tahoma"/>
                <a:cs typeface="Tahoma"/>
              </a:rPr>
              <a:t>Connect</a:t>
            </a:r>
            <a:r>
              <a:rPr sz="445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dirty="0">
                <a:solidFill>
                  <a:srgbClr val="40349E"/>
                </a:solidFill>
                <a:latin typeface="Tahoma"/>
                <a:cs typeface="Tahoma"/>
              </a:rPr>
              <a:t>registration</a:t>
            </a:r>
            <a:r>
              <a:rPr sz="445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60" dirty="0">
                <a:solidFill>
                  <a:srgbClr val="40349E"/>
                </a:solidFill>
                <a:latin typeface="Tahoma"/>
                <a:cs typeface="Tahoma"/>
              </a:rPr>
              <a:t>with</a:t>
            </a:r>
            <a:r>
              <a:rPr sz="445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40" dirty="0">
                <a:solidFill>
                  <a:srgbClr val="40349E"/>
                </a:solidFill>
                <a:latin typeface="Tahoma"/>
                <a:cs typeface="Tahoma"/>
              </a:rPr>
              <a:t>payment</a:t>
            </a:r>
            <a:endParaRPr sz="4450">
              <a:latin typeface="Tahoma"/>
              <a:cs typeface="Tahoma"/>
            </a:endParaRPr>
          </a:p>
          <a:p>
            <a:pPr marL="12700">
              <a:lnSpc>
                <a:spcPts val="4590"/>
              </a:lnSpc>
            </a:pPr>
            <a:r>
              <a:rPr sz="4450" spc="135" dirty="0">
                <a:solidFill>
                  <a:srgbClr val="40349E"/>
                </a:solidFill>
                <a:latin typeface="Tahoma"/>
                <a:cs typeface="Tahoma"/>
              </a:rPr>
              <a:t>Allow</a:t>
            </a:r>
            <a:r>
              <a:rPr sz="4450" spc="-33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70" dirty="0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sz="4450" spc="-3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60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4450" spc="-33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85" dirty="0">
                <a:solidFill>
                  <a:srgbClr val="40349E"/>
                </a:solidFill>
                <a:latin typeface="Tahoma"/>
                <a:cs typeface="Tahoma"/>
              </a:rPr>
              <a:t>submit</a:t>
            </a:r>
            <a:r>
              <a:rPr sz="4450" spc="-3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85" dirty="0">
                <a:solidFill>
                  <a:srgbClr val="40349E"/>
                </a:solidFill>
                <a:latin typeface="Tahoma"/>
                <a:cs typeface="Tahoma"/>
              </a:rPr>
              <a:t>complaints</a:t>
            </a:r>
            <a:endParaRPr sz="4450">
              <a:latin typeface="Tahoma"/>
              <a:cs typeface="Tahoma"/>
            </a:endParaRPr>
          </a:p>
          <a:p>
            <a:pPr marL="12700">
              <a:lnSpc>
                <a:spcPts val="4905"/>
              </a:lnSpc>
            </a:pPr>
            <a:r>
              <a:rPr sz="4450" spc="70" dirty="0">
                <a:solidFill>
                  <a:srgbClr val="40349E"/>
                </a:solidFill>
                <a:latin typeface="Tahoma"/>
                <a:cs typeface="Tahoma"/>
              </a:rPr>
              <a:t>Provide</a:t>
            </a:r>
            <a:r>
              <a:rPr sz="4450" spc="-33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70" dirty="0">
                <a:solidFill>
                  <a:srgbClr val="40349E"/>
                </a:solidFill>
                <a:latin typeface="Tahoma"/>
                <a:cs typeface="Tahoma"/>
              </a:rPr>
              <a:t>support</a:t>
            </a:r>
            <a:r>
              <a:rPr sz="4450" spc="-33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75" dirty="0">
                <a:solidFill>
                  <a:srgbClr val="40349E"/>
                </a:solidFill>
                <a:latin typeface="Tahoma"/>
                <a:cs typeface="Tahoma"/>
              </a:rPr>
              <a:t>contact</a:t>
            </a:r>
            <a:r>
              <a:rPr sz="4450" spc="-33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60" dirty="0">
                <a:solidFill>
                  <a:srgbClr val="40349E"/>
                </a:solidFill>
                <a:latin typeface="Tahoma"/>
                <a:cs typeface="Tahoma"/>
              </a:rPr>
              <a:t>numbers</a:t>
            </a:r>
            <a:endParaRPr sz="4450">
              <a:latin typeface="Tahoma"/>
              <a:cs typeface="Tahoma"/>
            </a:endParaRPr>
          </a:p>
          <a:p>
            <a:pPr marL="12700">
              <a:lnSpc>
                <a:spcPts val="5125"/>
              </a:lnSpc>
            </a:pPr>
            <a:r>
              <a:rPr sz="4450" spc="60" dirty="0">
                <a:solidFill>
                  <a:srgbClr val="40349E"/>
                </a:solidFill>
                <a:latin typeface="Tahoma"/>
                <a:cs typeface="Tahoma"/>
              </a:rPr>
              <a:t>Store</a:t>
            </a:r>
            <a:r>
              <a:rPr sz="4450" spc="-2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85" dirty="0">
                <a:solidFill>
                  <a:srgbClr val="40349E"/>
                </a:solidFill>
                <a:latin typeface="Tahoma"/>
                <a:cs typeface="Tahoma"/>
              </a:rPr>
              <a:t>complaint</a:t>
            </a:r>
            <a:r>
              <a:rPr sz="4450" spc="-2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95" dirty="0">
                <a:solidFill>
                  <a:srgbClr val="40349E"/>
                </a:solidFill>
                <a:latin typeface="Tahoma"/>
                <a:cs typeface="Tahoma"/>
              </a:rPr>
              <a:t>details</a:t>
            </a:r>
            <a:r>
              <a:rPr sz="4450" spc="-2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4450" spc="-2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dirty="0">
                <a:solidFill>
                  <a:srgbClr val="40349E"/>
                </a:solidFill>
                <a:latin typeface="Tahoma"/>
                <a:cs typeface="Tahoma"/>
              </a:rPr>
              <a:t>organizer</a:t>
            </a:r>
            <a:r>
              <a:rPr sz="4450" spc="-2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450" spc="75" dirty="0">
                <a:solidFill>
                  <a:srgbClr val="40349E"/>
                </a:solidFill>
                <a:latin typeface="Tahoma"/>
                <a:cs typeface="Tahoma"/>
              </a:rPr>
              <a:t>response</a:t>
            </a:r>
            <a:endParaRPr sz="4450">
              <a:latin typeface="Tahoma"/>
              <a:cs typeface="Tahom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374" y="-38089"/>
            <a:ext cx="1607574" cy="91438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10190" cy="556212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90" dirty="0"/>
              <a:t>EXPERIMENTAL</a:t>
            </a:r>
            <a:r>
              <a:rPr spc="65" dirty="0"/>
              <a:t> </a:t>
            </a:r>
            <a:r>
              <a:rPr spc="610" dirty="0"/>
              <a:t>SETUP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808469" y="3006621"/>
            <a:ext cx="186055" cy="2508885"/>
            <a:chOff x="2808469" y="3006621"/>
            <a:chExt cx="186055" cy="250888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8469" y="3006621"/>
              <a:ext cx="185815" cy="1858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8469" y="3587294"/>
              <a:ext cx="185815" cy="1858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8469" y="4167968"/>
              <a:ext cx="185815" cy="1858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8469" y="4748641"/>
              <a:ext cx="185815" cy="1858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8469" y="5329315"/>
              <a:ext cx="185815" cy="185815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8469" y="6490662"/>
            <a:ext cx="185815" cy="18581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248150" y="2747018"/>
            <a:ext cx="12514580" cy="47212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just">
              <a:lnSpc>
                <a:spcPts val="4745"/>
              </a:lnSpc>
              <a:spcBef>
                <a:spcPts val="135"/>
              </a:spcBef>
            </a:pPr>
            <a:r>
              <a:rPr sz="4100" spc="45" dirty="0">
                <a:solidFill>
                  <a:srgbClr val="40349E"/>
                </a:solidFill>
                <a:latin typeface="Tahoma"/>
                <a:cs typeface="Tahoma"/>
              </a:rPr>
              <a:t>Frontend:</a:t>
            </a:r>
            <a:r>
              <a:rPr sz="41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dirty="0">
                <a:solidFill>
                  <a:srgbClr val="40349E"/>
                </a:solidFill>
                <a:latin typeface="Tahoma"/>
                <a:cs typeface="Tahoma"/>
              </a:rPr>
              <a:t>HTML,</a:t>
            </a:r>
            <a:r>
              <a:rPr sz="41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dirty="0">
                <a:solidFill>
                  <a:srgbClr val="40349E"/>
                </a:solidFill>
                <a:latin typeface="Tahoma"/>
                <a:cs typeface="Tahoma"/>
              </a:rPr>
              <a:t>CSS,</a:t>
            </a:r>
            <a:r>
              <a:rPr sz="41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90" dirty="0">
                <a:solidFill>
                  <a:srgbClr val="40349E"/>
                </a:solidFill>
                <a:latin typeface="Tahoma"/>
                <a:cs typeface="Tahoma"/>
              </a:rPr>
              <a:t>JavaScript</a:t>
            </a:r>
            <a:endParaRPr sz="4100">
              <a:latin typeface="Tahoma"/>
              <a:cs typeface="Tahoma"/>
            </a:endParaRPr>
          </a:p>
          <a:p>
            <a:pPr marL="12700" marR="873760" algn="just">
              <a:lnSpc>
                <a:spcPts val="4570"/>
              </a:lnSpc>
              <a:spcBef>
                <a:spcPts val="270"/>
              </a:spcBef>
            </a:pPr>
            <a:r>
              <a:rPr sz="4100" spc="80" dirty="0">
                <a:solidFill>
                  <a:srgbClr val="40349E"/>
                </a:solidFill>
                <a:latin typeface="Tahoma"/>
                <a:cs typeface="Tahoma"/>
              </a:rPr>
              <a:t>Backend:</a:t>
            </a:r>
            <a:r>
              <a:rPr sz="4100" spc="-2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130" dirty="0">
                <a:solidFill>
                  <a:srgbClr val="40349E"/>
                </a:solidFill>
                <a:latin typeface="Tahoma"/>
                <a:cs typeface="Tahoma"/>
              </a:rPr>
              <a:t>Backend</a:t>
            </a:r>
            <a:r>
              <a:rPr sz="4100" spc="-2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170" dirty="0">
                <a:solidFill>
                  <a:srgbClr val="40349E"/>
                </a:solidFill>
                <a:latin typeface="Tahoma"/>
                <a:cs typeface="Tahoma"/>
              </a:rPr>
              <a:t>API</a:t>
            </a:r>
            <a:r>
              <a:rPr sz="4100" spc="-2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4100" spc="-2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95" dirty="0">
                <a:solidFill>
                  <a:srgbClr val="40349E"/>
                </a:solidFill>
                <a:latin typeface="Tahoma"/>
                <a:cs typeface="Tahoma"/>
              </a:rPr>
              <a:t>application</a:t>
            </a:r>
            <a:r>
              <a:rPr sz="4100" spc="-2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80" dirty="0">
                <a:solidFill>
                  <a:srgbClr val="40349E"/>
                </a:solidFill>
                <a:latin typeface="Tahoma"/>
                <a:cs typeface="Tahoma"/>
              </a:rPr>
              <a:t>processing </a:t>
            </a:r>
            <a:r>
              <a:rPr sz="4100" dirty="0">
                <a:solidFill>
                  <a:srgbClr val="40349E"/>
                </a:solidFill>
                <a:latin typeface="Tahoma"/>
                <a:cs typeface="Tahoma"/>
              </a:rPr>
              <a:t>Database:</a:t>
            </a:r>
            <a:r>
              <a:rPr sz="41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75" dirty="0">
                <a:solidFill>
                  <a:srgbClr val="40349E"/>
                </a:solidFill>
                <a:latin typeface="Tahoma"/>
                <a:cs typeface="Tahoma"/>
              </a:rPr>
              <a:t>EventEase</a:t>
            </a:r>
            <a:r>
              <a:rPr sz="41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85" dirty="0">
                <a:solidFill>
                  <a:srgbClr val="40349E"/>
                </a:solidFill>
                <a:latin typeface="Tahoma"/>
                <a:cs typeface="Tahoma"/>
              </a:rPr>
              <a:t>relational</a:t>
            </a:r>
            <a:r>
              <a:rPr sz="41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70" dirty="0">
                <a:solidFill>
                  <a:srgbClr val="40349E"/>
                </a:solidFill>
                <a:latin typeface="Tahoma"/>
                <a:cs typeface="Tahoma"/>
              </a:rPr>
              <a:t>dataset/database </a:t>
            </a:r>
            <a:r>
              <a:rPr sz="4100" spc="85" dirty="0">
                <a:solidFill>
                  <a:srgbClr val="40349E"/>
                </a:solidFill>
                <a:latin typeface="Tahoma"/>
                <a:cs typeface="Tahoma"/>
              </a:rPr>
              <a:t>Development</a:t>
            </a:r>
            <a:r>
              <a:rPr sz="4100" spc="-2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dirty="0">
                <a:solidFill>
                  <a:srgbClr val="40349E"/>
                </a:solidFill>
                <a:latin typeface="Tahoma"/>
                <a:cs typeface="Tahoma"/>
              </a:rPr>
              <a:t>Tool:</a:t>
            </a:r>
            <a:r>
              <a:rPr sz="4100" spc="-2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75" dirty="0">
                <a:solidFill>
                  <a:srgbClr val="40349E"/>
                </a:solidFill>
                <a:latin typeface="Tahoma"/>
                <a:cs typeface="Tahoma"/>
              </a:rPr>
              <a:t>VS</a:t>
            </a:r>
            <a:r>
              <a:rPr sz="4100" spc="-2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80" dirty="0">
                <a:solidFill>
                  <a:srgbClr val="40349E"/>
                </a:solidFill>
                <a:latin typeface="Tahoma"/>
                <a:cs typeface="Tahoma"/>
              </a:rPr>
              <a:t>Code</a:t>
            </a:r>
            <a:endParaRPr sz="4100">
              <a:latin typeface="Tahoma"/>
              <a:cs typeface="Tahoma"/>
            </a:endParaRPr>
          </a:p>
          <a:p>
            <a:pPr marL="12700" marR="471170">
              <a:lnSpc>
                <a:spcPts val="4570"/>
              </a:lnSpc>
              <a:spcBef>
                <a:spcPts val="10"/>
              </a:spcBef>
            </a:pPr>
            <a:r>
              <a:rPr sz="4100" dirty="0">
                <a:solidFill>
                  <a:srgbClr val="40349E"/>
                </a:solidFill>
                <a:latin typeface="Tahoma"/>
                <a:cs typeface="Tahoma"/>
              </a:rPr>
              <a:t>Input:</a:t>
            </a:r>
            <a:r>
              <a:rPr sz="4100" spc="-1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dirty="0">
                <a:solidFill>
                  <a:srgbClr val="40349E"/>
                </a:solidFill>
                <a:latin typeface="Tahoma"/>
                <a:cs typeface="Tahoma"/>
              </a:rPr>
              <a:t>Event,</a:t>
            </a:r>
            <a:r>
              <a:rPr sz="4100" spc="-1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55" dirty="0">
                <a:solidFill>
                  <a:srgbClr val="40349E"/>
                </a:solidFill>
                <a:latin typeface="Tahoma"/>
                <a:cs typeface="Tahoma"/>
              </a:rPr>
              <a:t>attendee,</a:t>
            </a:r>
            <a:r>
              <a:rPr sz="4100" spc="-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dirty="0">
                <a:solidFill>
                  <a:srgbClr val="40349E"/>
                </a:solidFill>
                <a:latin typeface="Tahoma"/>
                <a:cs typeface="Tahoma"/>
              </a:rPr>
              <a:t>registration,</a:t>
            </a:r>
            <a:r>
              <a:rPr sz="4100" spc="-1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dirty="0">
                <a:solidFill>
                  <a:srgbClr val="40349E"/>
                </a:solidFill>
                <a:latin typeface="Tahoma"/>
                <a:cs typeface="Tahoma"/>
              </a:rPr>
              <a:t>venue,</a:t>
            </a:r>
            <a:r>
              <a:rPr sz="4100" spc="-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110" dirty="0">
                <a:solidFill>
                  <a:srgbClr val="40349E"/>
                </a:solidFill>
                <a:latin typeface="Tahoma"/>
                <a:cs typeface="Tahoma"/>
              </a:rPr>
              <a:t>session </a:t>
            </a:r>
            <a:r>
              <a:rPr sz="4100" spc="7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4100" spc="-3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75" dirty="0">
                <a:solidFill>
                  <a:srgbClr val="40349E"/>
                </a:solidFill>
                <a:latin typeface="Tahoma"/>
                <a:cs typeface="Tahoma"/>
              </a:rPr>
              <a:t>transaction</a:t>
            </a:r>
            <a:r>
              <a:rPr sz="4100" spc="-2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45" dirty="0">
                <a:solidFill>
                  <a:srgbClr val="40349E"/>
                </a:solidFill>
                <a:latin typeface="Tahoma"/>
                <a:cs typeface="Tahoma"/>
              </a:rPr>
              <a:t>data</a:t>
            </a:r>
            <a:endParaRPr sz="4100">
              <a:latin typeface="Tahoma"/>
              <a:cs typeface="Tahoma"/>
            </a:endParaRPr>
          </a:p>
          <a:p>
            <a:pPr marL="12700" marR="5080">
              <a:lnSpc>
                <a:spcPts val="4570"/>
              </a:lnSpc>
              <a:spcBef>
                <a:spcPts val="5"/>
              </a:spcBef>
            </a:pPr>
            <a:r>
              <a:rPr sz="4100" dirty="0">
                <a:solidFill>
                  <a:srgbClr val="40349E"/>
                </a:solidFill>
                <a:latin typeface="Tahoma"/>
                <a:cs typeface="Tahoma"/>
              </a:rPr>
              <a:t>Testing:</a:t>
            </a:r>
            <a:r>
              <a:rPr sz="4100" spc="-1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5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4100" spc="-1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60" dirty="0">
                <a:solidFill>
                  <a:srgbClr val="40349E"/>
                </a:solidFill>
                <a:latin typeface="Tahoma"/>
                <a:cs typeface="Tahoma"/>
              </a:rPr>
              <a:t>search,</a:t>
            </a:r>
            <a:r>
              <a:rPr sz="4100" spc="-1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dirty="0">
                <a:solidFill>
                  <a:srgbClr val="40349E"/>
                </a:solidFill>
                <a:latin typeface="Tahoma"/>
                <a:cs typeface="Tahoma"/>
              </a:rPr>
              <a:t>registration,</a:t>
            </a:r>
            <a:r>
              <a:rPr sz="4100" spc="-1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90" dirty="0">
                <a:solidFill>
                  <a:srgbClr val="40349E"/>
                </a:solidFill>
                <a:latin typeface="Tahoma"/>
                <a:cs typeface="Tahoma"/>
              </a:rPr>
              <a:t>support</a:t>
            </a:r>
            <a:r>
              <a:rPr sz="4100" spc="-1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7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41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85" dirty="0">
                <a:solidFill>
                  <a:srgbClr val="40349E"/>
                </a:solidFill>
                <a:latin typeface="Tahoma"/>
                <a:cs typeface="Tahoma"/>
              </a:rPr>
              <a:t>seat-</a:t>
            </a:r>
            <a:r>
              <a:rPr sz="4100" spc="90" dirty="0">
                <a:solidFill>
                  <a:srgbClr val="40349E"/>
                </a:solidFill>
                <a:latin typeface="Tahoma"/>
                <a:cs typeface="Tahoma"/>
              </a:rPr>
              <a:t>related</a:t>
            </a:r>
            <a:r>
              <a:rPr sz="4100" spc="-2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95" dirty="0">
                <a:solidFill>
                  <a:srgbClr val="40349E"/>
                </a:solidFill>
                <a:latin typeface="Tahoma"/>
                <a:cs typeface="Tahoma"/>
              </a:rPr>
              <a:t>workflows</a:t>
            </a:r>
            <a:endParaRPr sz="4100">
              <a:latin typeface="Tahoma"/>
              <a:cs typeface="Tahoma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8" y="23243"/>
            <a:ext cx="1787864" cy="16626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810635" cy="5562600"/>
            <a:chOff x="0" y="0"/>
            <a:chExt cx="3810635" cy="5562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810190" cy="556212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2730" y="3388227"/>
              <a:ext cx="189210" cy="18921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2730" y="3979508"/>
              <a:ext cx="189210" cy="1892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2730" y="4570790"/>
              <a:ext cx="189210" cy="18921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2730" y="5162071"/>
              <a:ext cx="189210" cy="189209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388485">
              <a:lnSpc>
                <a:spcPct val="100000"/>
              </a:lnSpc>
              <a:spcBef>
                <a:spcPts val="125"/>
              </a:spcBef>
            </a:pPr>
            <a:r>
              <a:rPr spc="715" dirty="0"/>
              <a:t>RESULTS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2730" y="5753353"/>
            <a:ext cx="189210" cy="18920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2730" y="6344634"/>
            <a:ext cx="189210" cy="18920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2730" y="6935915"/>
            <a:ext cx="189210" cy="18921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1368" rIns="0" bIns="0" rtlCol="0">
            <a:spAutoFit/>
          </a:bodyPr>
          <a:lstStyle/>
          <a:p>
            <a:pPr marL="422275" marR="816610">
              <a:lnSpc>
                <a:spcPts val="4660"/>
              </a:lnSpc>
              <a:spcBef>
                <a:spcPts val="585"/>
              </a:spcBef>
            </a:pPr>
            <a:r>
              <a:rPr sz="4200" spc="70" dirty="0"/>
              <a:t>Events</a:t>
            </a:r>
            <a:r>
              <a:rPr sz="4200" spc="-315" dirty="0"/>
              <a:t> </a:t>
            </a:r>
            <a:r>
              <a:rPr sz="4200" spc="85" dirty="0"/>
              <a:t>can</a:t>
            </a:r>
            <a:r>
              <a:rPr sz="4200" spc="-315" dirty="0"/>
              <a:t> </a:t>
            </a:r>
            <a:r>
              <a:rPr sz="4200" spc="95" dirty="0"/>
              <a:t>be</a:t>
            </a:r>
            <a:r>
              <a:rPr sz="4200" spc="-310" dirty="0"/>
              <a:t> </a:t>
            </a:r>
            <a:r>
              <a:rPr sz="4200" spc="95" dirty="0"/>
              <a:t>displayed</a:t>
            </a:r>
            <a:r>
              <a:rPr sz="4200" spc="-315" dirty="0"/>
              <a:t> </a:t>
            </a:r>
            <a:r>
              <a:rPr sz="4200" spc="65" dirty="0"/>
              <a:t>and</a:t>
            </a:r>
            <a:r>
              <a:rPr sz="4200" spc="-315" dirty="0"/>
              <a:t> </a:t>
            </a:r>
            <a:r>
              <a:rPr sz="4200" spc="90" dirty="0"/>
              <a:t>searched</a:t>
            </a:r>
            <a:r>
              <a:rPr sz="4200" spc="-310" dirty="0"/>
              <a:t> </a:t>
            </a:r>
            <a:r>
              <a:rPr sz="4200" spc="80" dirty="0"/>
              <a:t>easily </a:t>
            </a:r>
            <a:r>
              <a:rPr sz="4200" spc="95" dirty="0"/>
              <a:t>Attendees</a:t>
            </a:r>
            <a:r>
              <a:rPr sz="4200" spc="-315" dirty="0"/>
              <a:t> </a:t>
            </a:r>
            <a:r>
              <a:rPr sz="4200" spc="85" dirty="0"/>
              <a:t>can</a:t>
            </a:r>
            <a:r>
              <a:rPr sz="4200" spc="-310" dirty="0"/>
              <a:t> </a:t>
            </a:r>
            <a:r>
              <a:rPr sz="4200" spc="55" dirty="0"/>
              <a:t>view</a:t>
            </a:r>
            <a:r>
              <a:rPr sz="4200" spc="-310" dirty="0"/>
              <a:t> </a:t>
            </a:r>
            <a:r>
              <a:rPr sz="4200" spc="110" dirty="0"/>
              <a:t>complete</a:t>
            </a:r>
            <a:r>
              <a:rPr sz="4200" spc="-310" dirty="0"/>
              <a:t> </a:t>
            </a:r>
            <a:r>
              <a:rPr sz="4200" spc="50" dirty="0"/>
              <a:t>event</a:t>
            </a:r>
            <a:r>
              <a:rPr sz="4200" spc="-310" dirty="0"/>
              <a:t> </a:t>
            </a:r>
            <a:r>
              <a:rPr sz="4200" spc="50" dirty="0"/>
              <a:t>information </a:t>
            </a:r>
            <a:r>
              <a:rPr sz="4200" spc="55" dirty="0"/>
              <a:t>Registration</a:t>
            </a:r>
            <a:r>
              <a:rPr sz="4200" spc="-305" dirty="0"/>
              <a:t> </a:t>
            </a:r>
            <a:r>
              <a:rPr sz="4200" spc="60" dirty="0"/>
              <a:t>form</a:t>
            </a:r>
            <a:r>
              <a:rPr sz="4200" spc="-300" dirty="0"/>
              <a:t> </a:t>
            </a:r>
            <a:r>
              <a:rPr sz="4200" spc="130" dirty="0"/>
              <a:t>collects</a:t>
            </a:r>
            <a:r>
              <a:rPr sz="4200" spc="-305" dirty="0"/>
              <a:t> </a:t>
            </a:r>
            <a:r>
              <a:rPr sz="4200" spc="70" dirty="0"/>
              <a:t>attendee</a:t>
            </a:r>
            <a:r>
              <a:rPr sz="4200" spc="-300" dirty="0"/>
              <a:t> </a:t>
            </a:r>
            <a:r>
              <a:rPr sz="4200" spc="90" dirty="0"/>
              <a:t>details </a:t>
            </a:r>
            <a:r>
              <a:rPr sz="4200" spc="70" dirty="0"/>
              <a:t>Unique</a:t>
            </a:r>
            <a:r>
              <a:rPr sz="4200" spc="-295" dirty="0"/>
              <a:t> </a:t>
            </a:r>
            <a:r>
              <a:rPr sz="4200" spc="55" dirty="0"/>
              <a:t>Registration</a:t>
            </a:r>
            <a:r>
              <a:rPr sz="4200" spc="-295" dirty="0"/>
              <a:t> </a:t>
            </a:r>
            <a:r>
              <a:rPr sz="4200" dirty="0"/>
              <a:t>ID</a:t>
            </a:r>
            <a:r>
              <a:rPr sz="4200" spc="-295" dirty="0"/>
              <a:t> </a:t>
            </a:r>
            <a:r>
              <a:rPr sz="4200" spc="125" dirty="0"/>
              <a:t>is</a:t>
            </a:r>
            <a:r>
              <a:rPr sz="4200" spc="-290" dirty="0"/>
              <a:t> </a:t>
            </a:r>
            <a:r>
              <a:rPr sz="4200" spc="35" dirty="0"/>
              <a:t>generated</a:t>
            </a:r>
            <a:endParaRPr sz="4200"/>
          </a:p>
          <a:p>
            <a:pPr marL="422275">
              <a:lnSpc>
                <a:spcPts val="4360"/>
              </a:lnSpc>
            </a:pPr>
            <a:r>
              <a:rPr sz="4200" spc="50" dirty="0"/>
              <a:t>Event</a:t>
            </a:r>
            <a:r>
              <a:rPr sz="4200" spc="-275" dirty="0"/>
              <a:t> </a:t>
            </a:r>
            <a:r>
              <a:rPr sz="4200" spc="65" dirty="0"/>
              <a:t>and</a:t>
            </a:r>
            <a:r>
              <a:rPr sz="4200" spc="-270" dirty="0"/>
              <a:t> </a:t>
            </a:r>
            <a:r>
              <a:rPr sz="4200" dirty="0"/>
              <a:t>venue</a:t>
            </a:r>
            <a:r>
              <a:rPr sz="4200" spc="-270" dirty="0"/>
              <a:t> </a:t>
            </a:r>
            <a:r>
              <a:rPr sz="4200" spc="60" dirty="0"/>
              <a:t>information</a:t>
            </a:r>
            <a:r>
              <a:rPr sz="4200" spc="-270" dirty="0"/>
              <a:t> </a:t>
            </a:r>
            <a:r>
              <a:rPr sz="4200" spc="125" dirty="0"/>
              <a:t>is</a:t>
            </a:r>
            <a:r>
              <a:rPr sz="4200" spc="-270" dirty="0"/>
              <a:t> </a:t>
            </a:r>
            <a:r>
              <a:rPr sz="4200" spc="85" dirty="0"/>
              <a:t>displayed</a:t>
            </a:r>
            <a:endParaRPr sz="4200"/>
          </a:p>
          <a:p>
            <a:pPr marL="422275" marR="5080">
              <a:lnSpc>
                <a:spcPts val="4660"/>
              </a:lnSpc>
              <a:spcBef>
                <a:spcPts val="280"/>
              </a:spcBef>
            </a:pPr>
            <a:r>
              <a:rPr sz="4200" spc="70" dirty="0"/>
              <a:t>Support</a:t>
            </a:r>
            <a:r>
              <a:rPr sz="4200" spc="-300" dirty="0"/>
              <a:t> </a:t>
            </a:r>
            <a:r>
              <a:rPr sz="4200" spc="65" dirty="0"/>
              <a:t>and</a:t>
            </a:r>
            <a:r>
              <a:rPr sz="4200" spc="-300" dirty="0"/>
              <a:t> </a:t>
            </a:r>
            <a:r>
              <a:rPr sz="4200" spc="95" dirty="0"/>
              <a:t>complaint</a:t>
            </a:r>
            <a:r>
              <a:rPr sz="4200" spc="-300" dirty="0"/>
              <a:t> </a:t>
            </a:r>
            <a:r>
              <a:rPr sz="4200" spc="65" dirty="0"/>
              <a:t>functionality</a:t>
            </a:r>
            <a:r>
              <a:rPr sz="4200" spc="-300" dirty="0"/>
              <a:t> </a:t>
            </a:r>
            <a:r>
              <a:rPr sz="4200" spc="125" dirty="0"/>
              <a:t>is</a:t>
            </a:r>
            <a:r>
              <a:rPr sz="4200" spc="-300" dirty="0"/>
              <a:t> </a:t>
            </a:r>
            <a:r>
              <a:rPr sz="4200" spc="60" dirty="0"/>
              <a:t>provided </a:t>
            </a:r>
            <a:r>
              <a:rPr sz="4200" dirty="0"/>
              <a:t>Registration,</a:t>
            </a:r>
            <a:r>
              <a:rPr sz="4200" spc="-225" dirty="0"/>
              <a:t> </a:t>
            </a:r>
            <a:r>
              <a:rPr sz="4200" spc="70" dirty="0"/>
              <a:t>transaction</a:t>
            </a:r>
            <a:r>
              <a:rPr sz="4200" spc="-220" dirty="0"/>
              <a:t> </a:t>
            </a:r>
            <a:r>
              <a:rPr sz="4200" spc="65" dirty="0"/>
              <a:t>and</a:t>
            </a:r>
            <a:r>
              <a:rPr sz="4200" spc="-220" dirty="0"/>
              <a:t> </a:t>
            </a:r>
            <a:r>
              <a:rPr sz="4200" spc="85" dirty="0"/>
              <a:t>seat</a:t>
            </a:r>
            <a:r>
              <a:rPr sz="4200" spc="-220" dirty="0"/>
              <a:t> </a:t>
            </a:r>
            <a:r>
              <a:rPr sz="4200" spc="90" dirty="0"/>
              <a:t>allocation</a:t>
            </a:r>
            <a:r>
              <a:rPr sz="4200" spc="-225" dirty="0"/>
              <a:t> </a:t>
            </a:r>
            <a:r>
              <a:rPr sz="4200" spc="85" dirty="0"/>
              <a:t>can</a:t>
            </a:r>
            <a:r>
              <a:rPr sz="4200" spc="-220" dirty="0"/>
              <a:t> </a:t>
            </a:r>
            <a:r>
              <a:rPr sz="4200" spc="70" dirty="0"/>
              <a:t>be </a:t>
            </a:r>
            <a:r>
              <a:rPr sz="4200" spc="45" dirty="0"/>
              <a:t>integrated</a:t>
            </a:r>
            <a:r>
              <a:rPr sz="4200" spc="-260" dirty="0"/>
              <a:t> </a:t>
            </a:r>
            <a:r>
              <a:rPr sz="4200" dirty="0"/>
              <a:t>through</a:t>
            </a:r>
            <a:r>
              <a:rPr sz="4200" spc="-254" dirty="0"/>
              <a:t> </a:t>
            </a:r>
            <a:r>
              <a:rPr sz="4200" spc="65" dirty="0"/>
              <a:t>the</a:t>
            </a:r>
            <a:r>
              <a:rPr sz="4200" spc="-254" dirty="0"/>
              <a:t> </a:t>
            </a:r>
            <a:r>
              <a:rPr sz="4200" spc="85" dirty="0"/>
              <a:t>backend</a:t>
            </a:r>
            <a:endParaRPr sz="42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"/>
            <a:ext cx="2692730" cy="17907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03348" cy="514147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95200" y="943635"/>
            <a:ext cx="17320260" cy="1477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0" spc="600" dirty="0"/>
              <a:t>PERFORMANCE</a:t>
            </a:r>
            <a:r>
              <a:rPr sz="9500" spc="70" dirty="0"/>
              <a:t> </a:t>
            </a:r>
            <a:r>
              <a:rPr sz="9500" spc="395" dirty="0"/>
              <a:t>EVALUATION</a:t>
            </a:r>
            <a:endParaRPr sz="9500"/>
          </a:p>
        </p:txBody>
      </p:sp>
      <p:grpSp>
        <p:nvGrpSpPr>
          <p:cNvPr id="4" name="object 4"/>
          <p:cNvGrpSpPr/>
          <p:nvPr/>
        </p:nvGrpSpPr>
        <p:grpSpPr>
          <a:xfrm>
            <a:off x="2820530" y="3147660"/>
            <a:ext cx="186055" cy="1344930"/>
            <a:chOff x="2820530" y="3147660"/>
            <a:chExt cx="186055" cy="134493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0530" y="3147660"/>
              <a:ext cx="185461" cy="18546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0530" y="3727228"/>
              <a:ext cx="185461" cy="1854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0530" y="4306796"/>
              <a:ext cx="185461" cy="185461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20530" y="5465932"/>
            <a:ext cx="185461" cy="18546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20530" y="6045500"/>
            <a:ext cx="185461" cy="18546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20530" y="7204636"/>
            <a:ext cx="185461" cy="185461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15147" rIns="0" bIns="0" rtlCol="0">
            <a:spAutoFit/>
          </a:bodyPr>
          <a:lstStyle/>
          <a:p>
            <a:pPr marL="541020" marR="5080">
              <a:lnSpc>
                <a:spcPts val="4560"/>
              </a:lnSpc>
              <a:spcBef>
                <a:spcPts val="580"/>
              </a:spcBef>
            </a:pPr>
            <a:r>
              <a:rPr sz="4100" spc="50" dirty="0"/>
              <a:t>Event</a:t>
            </a:r>
            <a:r>
              <a:rPr sz="4100" spc="-254" dirty="0"/>
              <a:t> </a:t>
            </a:r>
            <a:r>
              <a:rPr sz="4100" dirty="0"/>
              <a:t>Search:</a:t>
            </a:r>
            <a:r>
              <a:rPr sz="4100" spc="-254" dirty="0"/>
              <a:t> </a:t>
            </a:r>
            <a:r>
              <a:rPr sz="4100" spc="85" dirty="0"/>
              <a:t>Quickly</a:t>
            </a:r>
            <a:r>
              <a:rPr sz="4100" spc="-250" dirty="0"/>
              <a:t> </a:t>
            </a:r>
            <a:r>
              <a:rPr sz="4100" spc="90" dirty="0"/>
              <a:t>filters</a:t>
            </a:r>
            <a:r>
              <a:rPr sz="4100" spc="-254" dirty="0"/>
              <a:t> </a:t>
            </a:r>
            <a:r>
              <a:rPr sz="4100" spc="75" dirty="0"/>
              <a:t>available</a:t>
            </a:r>
            <a:r>
              <a:rPr sz="4100" spc="-254" dirty="0"/>
              <a:t> </a:t>
            </a:r>
            <a:r>
              <a:rPr sz="4100" spc="60" dirty="0"/>
              <a:t>events </a:t>
            </a:r>
            <a:r>
              <a:rPr sz="4100" dirty="0"/>
              <a:t>Registration:</a:t>
            </a:r>
            <a:r>
              <a:rPr sz="4100" spc="-195" dirty="0"/>
              <a:t> </a:t>
            </a:r>
            <a:r>
              <a:rPr sz="4100" spc="125" dirty="0"/>
              <a:t>Collects</a:t>
            </a:r>
            <a:r>
              <a:rPr sz="4100" spc="-190" dirty="0"/>
              <a:t> </a:t>
            </a:r>
            <a:r>
              <a:rPr sz="4100" spc="70" dirty="0"/>
              <a:t>required</a:t>
            </a:r>
            <a:r>
              <a:rPr sz="4100" spc="-190" dirty="0"/>
              <a:t> </a:t>
            </a:r>
            <a:r>
              <a:rPr sz="4100" spc="70" dirty="0"/>
              <a:t>attendee</a:t>
            </a:r>
            <a:r>
              <a:rPr sz="4100" spc="-190" dirty="0"/>
              <a:t> </a:t>
            </a:r>
            <a:r>
              <a:rPr sz="4100" spc="50" dirty="0"/>
              <a:t>information </a:t>
            </a:r>
            <a:r>
              <a:rPr sz="4100" dirty="0"/>
              <a:t>Data</a:t>
            </a:r>
            <a:r>
              <a:rPr sz="4100" spc="-165" dirty="0"/>
              <a:t> </a:t>
            </a:r>
            <a:r>
              <a:rPr sz="4100" dirty="0"/>
              <a:t>Management:</a:t>
            </a:r>
            <a:r>
              <a:rPr sz="4100" spc="-165" dirty="0"/>
              <a:t> </a:t>
            </a:r>
            <a:r>
              <a:rPr sz="4100" spc="85" dirty="0"/>
              <a:t>Maintains</a:t>
            </a:r>
            <a:r>
              <a:rPr sz="4100" spc="-160" dirty="0"/>
              <a:t> </a:t>
            </a:r>
            <a:r>
              <a:rPr sz="4100" spc="80" dirty="0"/>
              <a:t>related</a:t>
            </a:r>
            <a:r>
              <a:rPr sz="4100" spc="-165" dirty="0"/>
              <a:t> </a:t>
            </a:r>
            <a:r>
              <a:rPr sz="4100" dirty="0"/>
              <a:t>event</a:t>
            </a:r>
            <a:r>
              <a:rPr sz="4100" spc="-160" dirty="0"/>
              <a:t> </a:t>
            </a:r>
            <a:r>
              <a:rPr sz="4100" spc="35" dirty="0"/>
              <a:t>and </a:t>
            </a:r>
            <a:r>
              <a:rPr sz="4100" spc="70" dirty="0"/>
              <a:t>attendee</a:t>
            </a:r>
            <a:r>
              <a:rPr sz="4100" spc="-310" dirty="0"/>
              <a:t> </a:t>
            </a:r>
            <a:r>
              <a:rPr sz="4100" spc="85" dirty="0"/>
              <a:t>records</a:t>
            </a:r>
            <a:endParaRPr sz="4100"/>
          </a:p>
          <a:p>
            <a:pPr marL="541020" marR="265430">
              <a:lnSpc>
                <a:spcPts val="4560"/>
              </a:lnSpc>
              <a:spcBef>
                <a:spcPts val="15"/>
              </a:spcBef>
            </a:pPr>
            <a:r>
              <a:rPr sz="4100" spc="65" dirty="0"/>
              <a:t>Seat</a:t>
            </a:r>
            <a:r>
              <a:rPr sz="4100" spc="-225" dirty="0"/>
              <a:t> </a:t>
            </a:r>
            <a:r>
              <a:rPr sz="4100" dirty="0"/>
              <a:t>Management:</a:t>
            </a:r>
            <a:r>
              <a:rPr sz="4100" spc="-225" dirty="0"/>
              <a:t> </a:t>
            </a:r>
            <a:r>
              <a:rPr sz="4100" spc="80" dirty="0"/>
              <a:t>Supports</a:t>
            </a:r>
            <a:r>
              <a:rPr sz="4100" spc="-225" dirty="0"/>
              <a:t> </a:t>
            </a:r>
            <a:r>
              <a:rPr sz="4100" spc="65" dirty="0"/>
              <a:t>unique</a:t>
            </a:r>
            <a:r>
              <a:rPr sz="4100" spc="-220" dirty="0"/>
              <a:t> </a:t>
            </a:r>
            <a:r>
              <a:rPr sz="4100" spc="90" dirty="0"/>
              <a:t>seat</a:t>
            </a:r>
            <a:r>
              <a:rPr sz="4100" spc="-225" dirty="0"/>
              <a:t> </a:t>
            </a:r>
            <a:r>
              <a:rPr sz="4100" spc="80" dirty="0"/>
              <a:t>allocation </a:t>
            </a:r>
            <a:r>
              <a:rPr sz="4100" spc="60" dirty="0"/>
              <a:t>Transaction</a:t>
            </a:r>
            <a:r>
              <a:rPr sz="4100" spc="-170" dirty="0"/>
              <a:t> </a:t>
            </a:r>
            <a:r>
              <a:rPr sz="4100" dirty="0"/>
              <a:t>Management:</a:t>
            </a:r>
            <a:r>
              <a:rPr sz="4100" spc="-170" dirty="0"/>
              <a:t> </a:t>
            </a:r>
            <a:r>
              <a:rPr sz="4100" spc="80" dirty="0"/>
              <a:t>Tracks</a:t>
            </a:r>
            <a:r>
              <a:rPr sz="4100" spc="-170" dirty="0"/>
              <a:t> </a:t>
            </a:r>
            <a:r>
              <a:rPr sz="4100" spc="55" dirty="0"/>
              <a:t>payment </a:t>
            </a:r>
            <a:r>
              <a:rPr sz="4100" spc="50" dirty="0"/>
              <a:t>information</a:t>
            </a:r>
            <a:endParaRPr sz="4100"/>
          </a:p>
          <a:p>
            <a:pPr marL="541020" marR="517525">
              <a:lnSpc>
                <a:spcPts val="4560"/>
              </a:lnSpc>
              <a:spcBef>
                <a:spcPts val="10"/>
              </a:spcBef>
            </a:pPr>
            <a:r>
              <a:rPr sz="4100" dirty="0"/>
              <a:t>Support:</a:t>
            </a:r>
            <a:r>
              <a:rPr sz="4100" spc="-265" dirty="0"/>
              <a:t> </a:t>
            </a:r>
            <a:r>
              <a:rPr sz="4100" spc="145" dirty="0"/>
              <a:t>Allows</a:t>
            </a:r>
            <a:r>
              <a:rPr sz="4100" spc="-260" dirty="0"/>
              <a:t> </a:t>
            </a:r>
            <a:r>
              <a:rPr sz="4100" spc="105" dirty="0"/>
              <a:t>complaints</a:t>
            </a:r>
            <a:r>
              <a:rPr sz="4100" spc="-260" dirty="0"/>
              <a:t> </a:t>
            </a:r>
            <a:r>
              <a:rPr sz="4100" spc="65" dirty="0"/>
              <a:t>to</a:t>
            </a:r>
            <a:r>
              <a:rPr sz="4100" spc="-260" dirty="0"/>
              <a:t> </a:t>
            </a:r>
            <a:r>
              <a:rPr sz="4100" spc="95" dirty="0"/>
              <a:t>be</a:t>
            </a:r>
            <a:r>
              <a:rPr sz="4100" spc="-260" dirty="0"/>
              <a:t> </a:t>
            </a:r>
            <a:r>
              <a:rPr sz="4100" spc="95" dirty="0"/>
              <a:t>submitted</a:t>
            </a:r>
            <a:r>
              <a:rPr sz="4100" spc="-265" dirty="0"/>
              <a:t> </a:t>
            </a:r>
            <a:r>
              <a:rPr sz="4100" spc="50" dirty="0"/>
              <a:t>when organizers</a:t>
            </a:r>
            <a:r>
              <a:rPr sz="4100" spc="-220" dirty="0"/>
              <a:t> </a:t>
            </a:r>
            <a:r>
              <a:rPr sz="4100" dirty="0"/>
              <a:t>are</a:t>
            </a:r>
            <a:r>
              <a:rPr sz="4100" spc="-220" dirty="0"/>
              <a:t> </a:t>
            </a:r>
            <a:r>
              <a:rPr sz="4100" spc="60" dirty="0"/>
              <a:t>unavailable</a:t>
            </a:r>
            <a:endParaRPr sz="41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28518"/>
            <a:ext cx="20574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51685">
              <a:lnSpc>
                <a:spcPct val="100000"/>
              </a:lnSpc>
              <a:spcBef>
                <a:spcPts val="125"/>
              </a:spcBef>
            </a:pPr>
            <a:r>
              <a:rPr spc="585" dirty="0"/>
              <a:t>WORKING</a:t>
            </a:r>
            <a:r>
              <a:rPr spc="65" dirty="0"/>
              <a:t> </a:t>
            </a:r>
            <a:r>
              <a:rPr spc="780" dirty="0"/>
              <a:t>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321"/>
            <a:ext cx="2971800" cy="18050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97B5C7-CB53-27EA-62B7-33E2B3042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628900"/>
            <a:ext cx="6400800" cy="30388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030003-70E9-2E52-3D9C-FE8A99C2C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2628900"/>
            <a:ext cx="6283644" cy="30388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A88D16-E027-ABF4-AFAF-1957763ACE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484" y="6078961"/>
            <a:ext cx="6400800" cy="29980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1DC7BC-5C34-7EFB-2725-B9D8C877BD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800" y="6078961"/>
            <a:ext cx="6283644" cy="29037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D5B22-C819-F025-6CED-F54F9B062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4E4527D-F884-E105-F66A-82F2E5C728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51685">
              <a:lnSpc>
                <a:spcPct val="100000"/>
              </a:lnSpc>
              <a:spcBef>
                <a:spcPts val="125"/>
              </a:spcBef>
            </a:pPr>
            <a:r>
              <a:rPr spc="585" dirty="0"/>
              <a:t>WORKING</a:t>
            </a:r>
            <a:r>
              <a:rPr spc="65" dirty="0"/>
              <a:t> </a:t>
            </a:r>
            <a:r>
              <a:rPr spc="780" dirty="0"/>
              <a:t>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32A7F0-9224-1067-06BB-3337249DB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321"/>
            <a:ext cx="2971800" cy="18050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BC514A-6A98-E463-B215-45A164091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413" y="2865406"/>
            <a:ext cx="6096000" cy="28968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B89700-9CB4-2564-F5AD-C4D501379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8123" y="2865406"/>
            <a:ext cx="6096000" cy="28968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6D43E8-D6E9-1807-78C3-EFEC61E8E1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998" y="6409993"/>
            <a:ext cx="6096001" cy="2893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BF26D4-3D0E-F538-B53D-43098A418C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8122" y="6409992"/>
            <a:ext cx="6095999" cy="289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051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C0E41-1C77-FB71-8269-4F33D3815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037561C-E017-B911-A196-5FFB040EC2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51685">
              <a:lnSpc>
                <a:spcPct val="100000"/>
              </a:lnSpc>
              <a:spcBef>
                <a:spcPts val="125"/>
              </a:spcBef>
            </a:pPr>
            <a:r>
              <a:rPr spc="585" dirty="0"/>
              <a:t>WORKING</a:t>
            </a:r>
            <a:r>
              <a:rPr spc="65" dirty="0"/>
              <a:t> </a:t>
            </a:r>
            <a:r>
              <a:rPr spc="780" dirty="0"/>
              <a:t>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3C943D-D23E-7F6E-FDBF-B6AB583CF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321"/>
            <a:ext cx="2971800" cy="18050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CF8B11-2F4D-6AAF-C9DB-D8C02C2A2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9" y="2865406"/>
            <a:ext cx="6096000" cy="29307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42118B-67D1-20A0-586C-E306809FC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8122" y="2865406"/>
            <a:ext cx="6165610" cy="29307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54E9A8-D0C0-FCD6-CA3E-EE8515CB34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0120" y="6404799"/>
            <a:ext cx="6073879" cy="29307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D60425-47C6-234A-78B1-849AC0B444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8122" y="6404799"/>
            <a:ext cx="6165610" cy="293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35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9CA1B-091A-3DC3-AD21-1B405BFF9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177C84D-A491-133D-9F5A-2232B7CA90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51685">
              <a:lnSpc>
                <a:spcPct val="100000"/>
              </a:lnSpc>
              <a:spcBef>
                <a:spcPts val="125"/>
              </a:spcBef>
            </a:pPr>
            <a:r>
              <a:rPr spc="585" dirty="0"/>
              <a:t>WORKING</a:t>
            </a:r>
            <a:r>
              <a:rPr spc="65" dirty="0"/>
              <a:t> </a:t>
            </a:r>
            <a:r>
              <a:rPr spc="780" dirty="0"/>
              <a:t>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090243-EC8D-24BD-8E6D-917EDCB20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321"/>
            <a:ext cx="2971800" cy="18050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0DF676-2E07-EF77-0325-CFB5EB0CB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009900"/>
            <a:ext cx="6096000" cy="28939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FA53C4-ABAE-4DB6-3DB0-86BD3BE3D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600" y="2998839"/>
            <a:ext cx="6095999" cy="28939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878D8A-1CE0-ECBB-04E9-7F08946053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1683" y="6515100"/>
            <a:ext cx="6096000" cy="289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532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981CE-A2D9-BDD1-9A5F-A98B0F5E5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0A955E5-A928-8C06-E373-065A04560B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51685">
              <a:lnSpc>
                <a:spcPct val="100000"/>
              </a:lnSpc>
              <a:spcBef>
                <a:spcPts val="125"/>
              </a:spcBef>
            </a:pPr>
            <a:r>
              <a:rPr spc="585" dirty="0"/>
              <a:t>WORKING</a:t>
            </a:r>
            <a:r>
              <a:rPr spc="65" dirty="0"/>
              <a:t> </a:t>
            </a:r>
            <a:r>
              <a:rPr spc="780" dirty="0"/>
              <a:t>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014242-BD7C-E018-EA23-877CB6FD8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321"/>
            <a:ext cx="2971800" cy="18050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23496B-4EB6-08EF-F92C-359D060B0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865406"/>
            <a:ext cx="6095999" cy="28939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7E288E-5D8F-04FB-E5EE-A53C1E4A3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865406"/>
            <a:ext cx="6095999" cy="29206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CC7B19-0AFD-7D45-BED1-5E3CF8D8A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6403415"/>
            <a:ext cx="6095999" cy="289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5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10190" cy="556212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41958" y="649584"/>
            <a:ext cx="15899765" cy="2420620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5744845" marR="5080" indent="-5732780">
              <a:lnSpc>
                <a:spcPts val="8630"/>
              </a:lnSpc>
              <a:spcBef>
                <a:spcPts val="1720"/>
              </a:spcBef>
            </a:pPr>
            <a:r>
              <a:rPr sz="8500" spc="575" dirty="0"/>
              <a:t>COMPARISON</a:t>
            </a:r>
            <a:r>
              <a:rPr sz="8500" spc="65" dirty="0"/>
              <a:t> </a:t>
            </a:r>
            <a:r>
              <a:rPr sz="8500" spc="434" dirty="0"/>
              <a:t>WITH</a:t>
            </a:r>
            <a:r>
              <a:rPr sz="8500" spc="65" dirty="0"/>
              <a:t> </a:t>
            </a:r>
            <a:r>
              <a:rPr sz="8500" spc="455" dirty="0"/>
              <a:t>EXISTING </a:t>
            </a:r>
            <a:r>
              <a:rPr sz="8500" spc="700" dirty="0"/>
              <a:t>SYSTEM</a:t>
            </a:r>
            <a:endParaRPr sz="85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99086" y="3555681"/>
          <a:ext cx="16080740" cy="6725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40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0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075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3300" spc="-275" dirty="0">
                          <a:solidFill>
                            <a:srgbClr val="40349E"/>
                          </a:solidFill>
                          <a:latin typeface="Arial Black"/>
                          <a:cs typeface="Arial Black"/>
                        </a:rPr>
                        <a:t>Existing</a:t>
                      </a:r>
                      <a:r>
                        <a:rPr sz="3300" spc="-305" dirty="0">
                          <a:solidFill>
                            <a:srgbClr val="40349E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3300" spc="-215" dirty="0">
                          <a:solidFill>
                            <a:srgbClr val="40349E"/>
                          </a:solidFill>
                          <a:latin typeface="Arial Black"/>
                          <a:cs typeface="Arial Black"/>
                        </a:rPr>
                        <a:t>Event</a:t>
                      </a:r>
                      <a:r>
                        <a:rPr sz="3300" spc="-300" dirty="0">
                          <a:solidFill>
                            <a:srgbClr val="40349E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3300" spc="-275" dirty="0">
                          <a:solidFill>
                            <a:srgbClr val="40349E"/>
                          </a:solidFill>
                          <a:latin typeface="Arial Black"/>
                          <a:cs typeface="Arial Black"/>
                        </a:rPr>
                        <a:t>Systems</a:t>
                      </a:r>
                      <a:endParaRPr sz="3300">
                        <a:latin typeface="Arial Black"/>
                        <a:cs typeface="Arial Black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3600" spc="-290" dirty="0">
                          <a:solidFill>
                            <a:srgbClr val="40349E"/>
                          </a:solidFill>
                          <a:latin typeface="Arial Black"/>
                          <a:cs typeface="Arial Black"/>
                        </a:rPr>
                        <a:t>EventEase</a:t>
                      </a:r>
                      <a:endParaRPr sz="3600">
                        <a:latin typeface="Arial Black"/>
                        <a:cs typeface="Arial Black"/>
                      </a:endParaRPr>
                    </a:p>
                  </a:txBody>
                  <a:tcPr marL="0" marR="0" marT="19050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900" spc="-100" dirty="0">
                          <a:latin typeface="Arial Black"/>
                          <a:cs typeface="Arial Black"/>
                        </a:rPr>
                        <a:t>Mainly</a:t>
                      </a:r>
                      <a:r>
                        <a:rPr sz="1900" spc="-15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25" dirty="0">
                          <a:latin typeface="Arial Black"/>
                          <a:cs typeface="Arial Black"/>
                        </a:rPr>
                        <a:t>focused</a:t>
                      </a:r>
                      <a:r>
                        <a:rPr sz="1900" spc="-15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85" dirty="0">
                          <a:latin typeface="Arial Black"/>
                          <a:cs typeface="Arial Black"/>
                        </a:rPr>
                        <a:t>on</a:t>
                      </a:r>
                      <a:r>
                        <a:rPr sz="1900" spc="-15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10" dirty="0">
                          <a:latin typeface="Arial Black"/>
                          <a:cs typeface="Arial Black"/>
                        </a:rPr>
                        <a:t>event</a:t>
                      </a:r>
                      <a:r>
                        <a:rPr sz="1900" spc="-15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0" dirty="0">
                          <a:latin typeface="Arial Black"/>
                          <a:cs typeface="Arial Black"/>
                        </a:rPr>
                        <a:t>discovery</a:t>
                      </a:r>
                      <a:endParaRPr sz="1900">
                        <a:latin typeface="Arial Black"/>
                        <a:cs typeface="Arial Black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900" spc="-125" dirty="0">
                          <a:latin typeface="Arial Black"/>
                          <a:cs typeface="Arial Black"/>
                        </a:rPr>
                        <a:t>Event</a:t>
                      </a:r>
                      <a:r>
                        <a:rPr sz="1900" spc="-15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20" dirty="0">
                          <a:latin typeface="Arial Black"/>
                          <a:cs typeface="Arial Black"/>
                        </a:rPr>
                        <a:t>discovery</a:t>
                      </a:r>
                      <a:r>
                        <a:rPr sz="1900" spc="-15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250" dirty="0">
                          <a:latin typeface="Arial Black"/>
                          <a:cs typeface="Arial Black"/>
                        </a:rPr>
                        <a:t>+</a:t>
                      </a:r>
                      <a:r>
                        <a:rPr sz="1900" spc="-15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40" dirty="0">
                          <a:latin typeface="Arial Black"/>
                          <a:cs typeface="Arial Black"/>
                        </a:rPr>
                        <a:t>management</a:t>
                      </a:r>
                      <a:endParaRPr sz="1900">
                        <a:latin typeface="Arial Black"/>
                        <a:cs typeface="Arial Black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900" spc="-135" dirty="0">
                          <a:latin typeface="Arial Black"/>
                          <a:cs typeface="Arial Black"/>
                        </a:rPr>
                        <a:t>Registration</a:t>
                      </a:r>
                      <a:r>
                        <a:rPr sz="1900" spc="-14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00" dirty="0">
                          <a:latin typeface="Arial Black"/>
                          <a:cs typeface="Arial Black"/>
                        </a:rPr>
                        <a:t>handled</a:t>
                      </a:r>
                      <a:r>
                        <a:rPr sz="1900" spc="-13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25" dirty="0">
                          <a:latin typeface="Arial Black"/>
                          <a:cs typeface="Arial Black"/>
                        </a:rPr>
                        <a:t>separately</a:t>
                      </a:r>
                      <a:r>
                        <a:rPr sz="1900" spc="-13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90" dirty="0">
                          <a:latin typeface="Arial Black"/>
                          <a:cs typeface="Arial Black"/>
                        </a:rPr>
                        <a:t>in</a:t>
                      </a:r>
                      <a:r>
                        <a:rPr sz="1900" spc="-13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55" dirty="0">
                          <a:latin typeface="Arial Black"/>
                          <a:cs typeface="Arial Black"/>
                        </a:rPr>
                        <a:t>some</a:t>
                      </a:r>
                      <a:r>
                        <a:rPr sz="1900" spc="-14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0" dirty="0">
                          <a:latin typeface="Arial Black"/>
                          <a:cs typeface="Arial Black"/>
                        </a:rPr>
                        <a:t>cases</a:t>
                      </a:r>
                      <a:endParaRPr sz="1900">
                        <a:latin typeface="Arial Black"/>
                        <a:cs typeface="Arial Black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900" spc="-120" dirty="0">
                          <a:latin typeface="Arial Black"/>
                          <a:cs typeface="Arial Black"/>
                        </a:rPr>
                        <a:t>Integrated</a:t>
                      </a:r>
                      <a:r>
                        <a:rPr sz="1900" spc="-10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30" dirty="0">
                          <a:latin typeface="Arial Black"/>
                          <a:cs typeface="Arial Black"/>
                        </a:rPr>
                        <a:t>registration</a:t>
                      </a:r>
                      <a:endParaRPr sz="1900">
                        <a:latin typeface="Arial Black"/>
                        <a:cs typeface="Arial Black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900" spc="-165" dirty="0">
                          <a:latin typeface="Arial Black"/>
                          <a:cs typeface="Arial Black"/>
                        </a:rPr>
                        <a:t>Seat</a:t>
                      </a:r>
                      <a:r>
                        <a:rPr sz="1900" spc="-16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45" dirty="0">
                          <a:latin typeface="Arial Black"/>
                          <a:cs typeface="Arial Black"/>
                        </a:rPr>
                        <a:t>management</a:t>
                      </a:r>
                      <a:r>
                        <a:rPr sz="1900" spc="-16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40" dirty="0">
                          <a:latin typeface="Arial Black"/>
                          <a:cs typeface="Arial Black"/>
                        </a:rPr>
                        <a:t>may</a:t>
                      </a:r>
                      <a:r>
                        <a:rPr sz="1900" spc="-16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05" dirty="0">
                          <a:latin typeface="Arial Black"/>
                          <a:cs typeface="Arial Black"/>
                        </a:rPr>
                        <a:t>be</a:t>
                      </a:r>
                      <a:r>
                        <a:rPr sz="1900" spc="-16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0" dirty="0">
                          <a:latin typeface="Arial Black"/>
                          <a:cs typeface="Arial Black"/>
                        </a:rPr>
                        <a:t>separate</a:t>
                      </a:r>
                      <a:endParaRPr sz="1900">
                        <a:latin typeface="Arial Black"/>
                        <a:cs typeface="Arial Black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900" spc="-165" dirty="0">
                          <a:latin typeface="Arial Black"/>
                          <a:cs typeface="Arial Black"/>
                        </a:rPr>
                        <a:t>Seat</a:t>
                      </a:r>
                      <a:r>
                        <a:rPr sz="1900" spc="-14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14" dirty="0">
                          <a:latin typeface="Arial Black"/>
                          <a:cs typeface="Arial Black"/>
                        </a:rPr>
                        <a:t>allocation</a:t>
                      </a:r>
                      <a:r>
                        <a:rPr sz="1900" spc="-14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0" dirty="0">
                          <a:latin typeface="Arial Black"/>
                          <a:cs typeface="Arial Black"/>
                        </a:rPr>
                        <a:t>integrated</a:t>
                      </a:r>
                      <a:endParaRPr sz="1900">
                        <a:latin typeface="Arial Black"/>
                        <a:cs typeface="Arial Black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900" spc="-114" dirty="0">
                          <a:latin typeface="Arial Black"/>
                          <a:cs typeface="Arial Black"/>
                        </a:rPr>
                        <a:t>Limited</a:t>
                      </a:r>
                      <a:r>
                        <a:rPr sz="1900" spc="-12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20" dirty="0">
                          <a:latin typeface="Arial Black"/>
                          <a:cs typeface="Arial Black"/>
                        </a:rPr>
                        <a:t>attendee </a:t>
                      </a:r>
                      <a:r>
                        <a:rPr sz="1900" spc="-10" dirty="0">
                          <a:latin typeface="Arial Black"/>
                          <a:cs typeface="Arial Black"/>
                        </a:rPr>
                        <a:t>support</a:t>
                      </a:r>
                      <a:endParaRPr sz="1900">
                        <a:latin typeface="Arial Black"/>
                        <a:cs typeface="Arial Black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900" spc="-105" dirty="0">
                          <a:latin typeface="Arial Black"/>
                          <a:cs typeface="Arial Black"/>
                        </a:rPr>
                        <a:t>Complaint</a:t>
                      </a:r>
                      <a:r>
                        <a:rPr sz="1900" spc="-15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250" dirty="0">
                          <a:latin typeface="Arial Black"/>
                          <a:cs typeface="Arial Black"/>
                        </a:rPr>
                        <a:t>+</a:t>
                      </a:r>
                      <a:r>
                        <a:rPr sz="1900" spc="-15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90" dirty="0">
                          <a:latin typeface="Arial Black"/>
                          <a:cs typeface="Arial Black"/>
                        </a:rPr>
                        <a:t>support</a:t>
                      </a:r>
                      <a:r>
                        <a:rPr sz="1900" spc="-15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0" dirty="0">
                          <a:latin typeface="Arial Black"/>
                          <a:cs typeface="Arial Black"/>
                        </a:rPr>
                        <a:t>functionality</a:t>
                      </a:r>
                      <a:endParaRPr sz="1900">
                        <a:latin typeface="Arial Black"/>
                        <a:cs typeface="Arial Black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0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900" spc="-125" dirty="0">
                          <a:latin typeface="Arial Black"/>
                          <a:cs typeface="Arial Black"/>
                        </a:rPr>
                        <a:t>Payment</a:t>
                      </a:r>
                      <a:r>
                        <a:rPr sz="1900" spc="-14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95" dirty="0">
                          <a:latin typeface="Arial Black"/>
                          <a:cs typeface="Arial Black"/>
                        </a:rPr>
                        <a:t>information</a:t>
                      </a:r>
                      <a:r>
                        <a:rPr sz="1900" spc="-14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40" dirty="0">
                          <a:latin typeface="Arial Black"/>
                          <a:cs typeface="Arial Black"/>
                        </a:rPr>
                        <a:t>may </a:t>
                      </a:r>
                      <a:r>
                        <a:rPr sz="1900" spc="-105" dirty="0">
                          <a:latin typeface="Arial Black"/>
                          <a:cs typeface="Arial Black"/>
                        </a:rPr>
                        <a:t>be</a:t>
                      </a:r>
                      <a:r>
                        <a:rPr sz="1900" spc="-14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00" dirty="0">
                          <a:latin typeface="Arial Black"/>
                          <a:cs typeface="Arial Black"/>
                        </a:rPr>
                        <a:t>handled</a:t>
                      </a:r>
                      <a:r>
                        <a:rPr sz="1900" spc="-14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0" dirty="0">
                          <a:latin typeface="Arial Black"/>
                          <a:cs typeface="Arial Black"/>
                        </a:rPr>
                        <a:t>separately</a:t>
                      </a:r>
                      <a:endParaRPr sz="1900">
                        <a:latin typeface="Arial Black"/>
                        <a:cs typeface="Arial Black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900" spc="-145" dirty="0">
                          <a:latin typeface="Arial Black"/>
                          <a:cs typeface="Arial Black"/>
                        </a:rPr>
                        <a:t>Transaction</a:t>
                      </a:r>
                      <a:r>
                        <a:rPr sz="1900" spc="-12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40" dirty="0">
                          <a:latin typeface="Arial Black"/>
                          <a:cs typeface="Arial Black"/>
                        </a:rPr>
                        <a:t>management</a:t>
                      </a:r>
                      <a:endParaRPr sz="1900">
                        <a:latin typeface="Arial Black"/>
                        <a:cs typeface="Arial Black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0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900" spc="-200" dirty="0">
                          <a:latin typeface="Arial Black"/>
                          <a:cs typeface="Arial Black"/>
                        </a:rPr>
                        <a:t>Less</a:t>
                      </a:r>
                      <a:r>
                        <a:rPr sz="1900" spc="-15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30" dirty="0">
                          <a:latin typeface="Arial Black"/>
                          <a:cs typeface="Arial Black"/>
                        </a:rPr>
                        <a:t>focus</a:t>
                      </a:r>
                      <a:r>
                        <a:rPr sz="1900" spc="-15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85" dirty="0">
                          <a:latin typeface="Arial Black"/>
                          <a:cs typeface="Arial Black"/>
                        </a:rPr>
                        <a:t>on</a:t>
                      </a:r>
                      <a:r>
                        <a:rPr sz="1900" spc="-14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10" dirty="0">
                          <a:latin typeface="Arial Black"/>
                          <a:cs typeface="Arial Black"/>
                        </a:rPr>
                        <a:t>relational</a:t>
                      </a:r>
                      <a:r>
                        <a:rPr sz="1900" spc="-15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30" dirty="0">
                          <a:latin typeface="Arial Black"/>
                          <a:cs typeface="Arial Black"/>
                        </a:rPr>
                        <a:t>data</a:t>
                      </a:r>
                      <a:r>
                        <a:rPr sz="1900" spc="-15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35" dirty="0">
                          <a:latin typeface="Arial Black"/>
                          <a:cs typeface="Arial Black"/>
                        </a:rPr>
                        <a:t>management</a:t>
                      </a:r>
                      <a:endParaRPr sz="1900">
                        <a:latin typeface="Arial Black"/>
                        <a:cs typeface="Arial Black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900" spc="-120" dirty="0">
                          <a:latin typeface="Arial Black"/>
                          <a:cs typeface="Arial Black"/>
                        </a:rPr>
                        <a:t>Database-</a:t>
                      </a:r>
                      <a:r>
                        <a:rPr sz="1900" spc="-95" dirty="0">
                          <a:latin typeface="Arial Black"/>
                          <a:cs typeface="Arial Black"/>
                        </a:rPr>
                        <a:t>oriented</a:t>
                      </a:r>
                      <a:r>
                        <a:rPr sz="1900" spc="-7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900" spc="-10" dirty="0">
                          <a:latin typeface="Arial Black"/>
                          <a:cs typeface="Arial Black"/>
                        </a:rPr>
                        <a:t>design</a:t>
                      </a:r>
                      <a:endParaRPr sz="1900">
                        <a:latin typeface="Arial Black"/>
                        <a:cs typeface="Arial Black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884"/>
            <a:ext cx="1541957" cy="117964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10190" cy="556212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624855" y="757085"/>
            <a:ext cx="16578580" cy="1477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0" spc="605" dirty="0"/>
              <a:t>CHALLENGES</a:t>
            </a:r>
            <a:r>
              <a:rPr sz="9500" spc="65" dirty="0"/>
              <a:t> </a:t>
            </a:r>
            <a:r>
              <a:rPr sz="9500" spc="-675" dirty="0"/>
              <a:t>&amp;</a:t>
            </a:r>
            <a:r>
              <a:rPr sz="9500" spc="65" dirty="0"/>
              <a:t> </a:t>
            </a:r>
            <a:r>
              <a:rPr sz="9500" spc="560" dirty="0"/>
              <a:t>SOLUTIONS</a:t>
            </a:r>
            <a:endParaRPr sz="95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68643" y="2547040"/>
          <a:ext cx="12712700" cy="7196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5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5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75"/>
                        </a:spcBef>
                      </a:pPr>
                      <a:r>
                        <a:rPr sz="2700" b="1" spc="-10" dirty="0">
                          <a:latin typeface="Arial"/>
                          <a:cs typeface="Arial"/>
                        </a:rPr>
                        <a:t>Challenges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3143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75"/>
                        </a:spcBef>
                      </a:pPr>
                      <a:r>
                        <a:rPr sz="2700" b="1" spc="-10" dirty="0">
                          <a:latin typeface="Arial"/>
                          <a:cs typeface="Arial"/>
                        </a:rPr>
                        <a:t>Solutions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3143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100" dirty="0">
                          <a:latin typeface="Tahoma"/>
                          <a:cs typeface="Tahoma"/>
                        </a:rPr>
                        <a:t>Managing</a:t>
                      </a:r>
                      <a:r>
                        <a:rPr sz="210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spc="50" dirty="0">
                          <a:latin typeface="Tahoma"/>
                          <a:cs typeface="Tahoma"/>
                        </a:rPr>
                        <a:t>multiple</a:t>
                      </a:r>
                      <a:r>
                        <a:rPr sz="210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dirty="0">
                          <a:latin typeface="Tahoma"/>
                          <a:cs typeface="Tahoma"/>
                        </a:rPr>
                        <a:t>related</a:t>
                      </a:r>
                      <a:r>
                        <a:rPr sz="2100" spc="-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spc="-10" dirty="0">
                          <a:latin typeface="Tahoma"/>
                          <a:cs typeface="Tahoma"/>
                        </a:rPr>
                        <a:t>entities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171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100" dirty="0">
                          <a:latin typeface="Tahoma"/>
                          <a:cs typeface="Tahoma"/>
                        </a:rPr>
                        <a:t>Relational</a:t>
                      </a:r>
                      <a:r>
                        <a:rPr sz="2100" spc="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dirty="0">
                          <a:latin typeface="Tahoma"/>
                          <a:cs typeface="Tahoma"/>
                        </a:rPr>
                        <a:t>database</a:t>
                      </a:r>
                      <a:r>
                        <a:rPr sz="2100" spc="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spc="-10" dirty="0">
                          <a:latin typeface="Tahoma"/>
                          <a:cs typeface="Tahoma"/>
                        </a:rPr>
                        <a:t>design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171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Maintaining</a:t>
                      </a:r>
                      <a:r>
                        <a:rPr sz="20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attendee</a:t>
                      </a:r>
                      <a:r>
                        <a:rPr sz="20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20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registration</a:t>
                      </a:r>
                      <a:r>
                        <a:rPr sz="20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relationships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100" dirty="0">
                          <a:latin typeface="Tahoma"/>
                          <a:cs typeface="Tahoma"/>
                        </a:rPr>
                        <a:t>Unique</a:t>
                      </a:r>
                      <a:r>
                        <a:rPr sz="21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dirty="0">
                          <a:latin typeface="Tahoma"/>
                          <a:cs typeface="Tahoma"/>
                        </a:rPr>
                        <a:t>IDs</a:t>
                      </a:r>
                      <a:r>
                        <a:rPr sz="2100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dirty="0">
                          <a:latin typeface="Tahoma"/>
                          <a:cs typeface="Tahoma"/>
                        </a:rPr>
                        <a:t>for</a:t>
                      </a:r>
                      <a:r>
                        <a:rPr sz="2100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spc="-10" dirty="0">
                          <a:latin typeface="Tahoma"/>
                          <a:cs typeface="Tahoma"/>
                        </a:rPr>
                        <a:t>entities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171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100" dirty="0">
                          <a:latin typeface="Tahoma"/>
                          <a:cs typeface="Tahoma"/>
                        </a:rPr>
                        <a:t>Avoiding</a:t>
                      </a:r>
                      <a:r>
                        <a:rPr sz="2100" spc="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dirty="0">
                          <a:latin typeface="Tahoma"/>
                          <a:cs typeface="Tahoma"/>
                        </a:rPr>
                        <a:t>duplicate</a:t>
                      </a:r>
                      <a:r>
                        <a:rPr sz="2100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dirty="0">
                          <a:latin typeface="Tahoma"/>
                          <a:cs typeface="Tahoma"/>
                        </a:rPr>
                        <a:t>seat</a:t>
                      </a:r>
                      <a:r>
                        <a:rPr sz="2100" spc="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spc="-10" dirty="0">
                          <a:latin typeface="Tahoma"/>
                          <a:cs typeface="Tahoma"/>
                        </a:rPr>
                        <a:t>allocation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171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100" dirty="0">
                          <a:latin typeface="Tahoma"/>
                          <a:cs typeface="Tahoma"/>
                        </a:rPr>
                        <a:t>Seat</a:t>
                      </a:r>
                      <a:r>
                        <a:rPr sz="2100" spc="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dirty="0">
                          <a:latin typeface="Tahoma"/>
                          <a:cs typeface="Tahoma"/>
                        </a:rPr>
                        <a:t>allocation</a:t>
                      </a:r>
                      <a:r>
                        <a:rPr sz="2100" spc="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spc="-10" dirty="0">
                          <a:latin typeface="Tahoma"/>
                          <a:cs typeface="Tahoma"/>
                        </a:rPr>
                        <a:t>tracking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171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100" dirty="0">
                          <a:latin typeface="Tahoma"/>
                          <a:cs typeface="Tahoma"/>
                        </a:rPr>
                        <a:t>Managing</a:t>
                      </a:r>
                      <a:r>
                        <a:rPr sz="2100" spc="-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dirty="0">
                          <a:latin typeface="Tahoma"/>
                          <a:cs typeface="Tahoma"/>
                        </a:rPr>
                        <a:t>different</a:t>
                      </a:r>
                      <a:r>
                        <a:rPr sz="21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dirty="0">
                          <a:latin typeface="Tahoma"/>
                          <a:cs typeface="Tahoma"/>
                        </a:rPr>
                        <a:t>event</a:t>
                      </a:r>
                      <a:r>
                        <a:rPr sz="2100" spc="-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spc="-10" dirty="0">
                          <a:latin typeface="Tahoma"/>
                          <a:cs typeface="Tahoma"/>
                        </a:rPr>
                        <a:t>venues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171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100" dirty="0">
                          <a:latin typeface="Tahoma"/>
                          <a:cs typeface="Tahoma"/>
                        </a:rPr>
                        <a:t>Event–venue</a:t>
                      </a:r>
                      <a:r>
                        <a:rPr sz="21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spc="-10" dirty="0">
                          <a:latin typeface="Tahoma"/>
                          <a:cs typeface="Tahoma"/>
                        </a:rPr>
                        <a:t>relationship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171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100" dirty="0">
                          <a:latin typeface="Tahoma"/>
                          <a:cs typeface="Tahoma"/>
                        </a:rPr>
                        <a:t>Handling</a:t>
                      </a:r>
                      <a:r>
                        <a:rPr sz="2100" spc="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dirty="0">
                          <a:latin typeface="Tahoma"/>
                          <a:cs typeface="Tahoma"/>
                        </a:rPr>
                        <a:t>transaction</a:t>
                      </a:r>
                      <a:r>
                        <a:rPr sz="2100" spc="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spc="-10" dirty="0">
                          <a:latin typeface="Tahoma"/>
                          <a:cs typeface="Tahoma"/>
                        </a:rPr>
                        <a:t>information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171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100" dirty="0">
                          <a:latin typeface="Tahoma"/>
                          <a:cs typeface="Tahoma"/>
                        </a:rPr>
                        <a:t>Transaction</a:t>
                      </a:r>
                      <a:r>
                        <a:rPr sz="2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spc="-10" dirty="0">
                          <a:latin typeface="Tahoma"/>
                          <a:cs typeface="Tahoma"/>
                        </a:rPr>
                        <a:t>records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171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8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Providing</a:t>
                      </a:r>
                      <a:r>
                        <a:rPr sz="20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support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when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organizers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are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unavailable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100" dirty="0">
                          <a:latin typeface="Tahoma"/>
                          <a:cs typeface="Tahoma"/>
                        </a:rPr>
                        <a:t>Complaint</a:t>
                      </a:r>
                      <a:r>
                        <a:rPr sz="2100" spc="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2100" spc="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dirty="0">
                          <a:latin typeface="Tahoma"/>
                          <a:cs typeface="Tahoma"/>
                        </a:rPr>
                        <a:t>support</a:t>
                      </a:r>
                      <a:r>
                        <a:rPr sz="2100" spc="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100" spc="-10" dirty="0">
                          <a:latin typeface="Tahoma"/>
                          <a:cs typeface="Tahoma"/>
                        </a:rPr>
                        <a:t>module</a:t>
                      </a:r>
                      <a:endParaRPr sz="2100">
                        <a:latin typeface="Tahoma"/>
                        <a:cs typeface="Tahoma"/>
                      </a:endParaRPr>
                    </a:p>
                  </a:txBody>
                  <a:tcPr marL="0" marR="0" marT="171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24" y="-1"/>
            <a:ext cx="1546123" cy="133350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810635" cy="5562600"/>
            <a:chOff x="0" y="0"/>
            <a:chExt cx="3810635" cy="5562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810190" cy="556212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7431" y="3447150"/>
              <a:ext cx="184086" cy="18408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67431" y="4022420"/>
              <a:ext cx="184086" cy="1840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67431" y="4597689"/>
              <a:ext cx="184086" cy="1840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67431" y="5172958"/>
              <a:ext cx="184086" cy="184085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55240">
              <a:lnSpc>
                <a:spcPct val="100000"/>
              </a:lnSpc>
              <a:spcBef>
                <a:spcPts val="125"/>
              </a:spcBef>
            </a:pPr>
            <a:r>
              <a:rPr spc="420" dirty="0"/>
              <a:t>FUTURE</a:t>
            </a:r>
            <a:r>
              <a:rPr spc="70" dirty="0"/>
              <a:t> </a:t>
            </a:r>
            <a:r>
              <a:rPr spc="640" dirty="0"/>
              <a:t>WORK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67431" y="5748228"/>
            <a:ext cx="184086" cy="18408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67431" y="6323497"/>
            <a:ext cx="184086" cy="18408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67431" y="6898767"/>
            <a:ext cx="184086" cy="18408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67431" y="7474036"/>
            <a:ext cx="184086" cy="18408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302902" y="3189846"/>
            <a:ext cx="12108180" cy="467741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ts val="4530"/>
              </a:lnSpc>
              <a:spcBef>
                <a:spcPts val="575"/>
              </a:spcBef>
            </a:pPr>
            <a:r>
              <a:rPr sz="4100" dirty="0">
                <a:solidFill>
                  <a:srgbClr val="40349E"/>
                </a:solidFill>
                <a:latin typeface="Tahoma"/>
                <a:cs typeface="Tahoma"/>
              </a:rPr>
              <a:t>Integrate</a:t>
            </a:r>
            <a:r>
              <a:rPr sz="4100" spc="-2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50" dirty="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sz="4100" spc="-25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45" dirty="0">
                <a:solidFill>
                  <a:srgbClr val="40349E"/>
                </a:solidFill>
                <a:latin typeface="Tahoma"/>
                <a:cs typeface="Tahoma"/>
              </a:rPr>
              <a:t>frontend</a:t>
            </a:r>
            <a:r>
              <a:rPr sz="4100" spc="-25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55" dirty="0">
                <a:solidFill>
                  <a:srgbClr val="40349E"/>
                </a:solidFill>
                <a:latin typeface="Tahoma"/>
                <a:cs typeface="Tahoma"/>
              </a:rPr>
              <a:t>with</a:t>
            </a:r>
            <a:r>
              <a:rPr sz="4100" spc="-2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dirty="0">
                <a:solidFill>
                  <a:srgbClr val="40349E"/>
                </a:solidFill>
                <a:latin typeface="Tahoma"/>
                <a:cs typeface="Tahoma"/>
              </a:rPr>
              <a:t>a</a:t>
            </a:r>
            <a:r>
              <a:rPr sz="4100" spc="-25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75" dirty="0">
                <a:solidFill>
                  <a:srgbClr val="40349E"/>
                </a:solidFill>
                <a:latin typeface="Tahoma"/>
                <a:cs typeface="Tahoma"/>
              </a:rPr>
              <a:t>live</a:t>
            </a:r>
            <a:r>
              <a:rPr sz="4100" spc="-25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85" dirty="0">
                <a:solidFill>
                  <a:srgbClr val="40349E"/>
                </a:solidFill>
                <a:latin typeface="Tahoma"/>
                <a:cs typeface="Tahoma"/>
              </a:rPr>
              <a:t>backend</a:t>
            </a:r>
            <a:r>
              <a:rPr sz="4100" spc="-25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60" dirty="0">
                <a:solidFill>
                  <a:srgbClr val="40349E"/>
                </a:solidFill>
                <a:latin typeface="Tahoma"/>
                <a:cs typeface="Tahoma"/>
              </a:rPr>
              <a:t>database </a:t>
            </a:r>
            <a:r>
              <a:rPr sz="4100" spc="95" dirty="0">
                <a:solidFill>
                  <a:srgbClr val="40349E"/>
                </a:solidFill>
                <a:latin typeface="Tahoma"/>
                <a:cs typeface="Tahoma"/>
              </a:rPr>
              <a:t>Implement</a:t>
            </a:r>
            <a:r>
              <a:rPr sz="4100" spc="-3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80" dirty="0">
                <a:solidFill>
                  <a:srgbClr val="40349E"/>
                </a:solidFill>
                <a:latin typeface="Tahoma"/>
                <a:cs typeface="Tahoma"/>
              </a:rPr>
              <a:t>real-</a:t>
            </a:r>
            <a:r>
              <a:rPr sz="4100" spc="85" dirty="0">
                <a:solidFill>
                  <a:srgbClr val="40349E"/>
                </a:solidFill>
                <a:latin typeface="Tahoma"/>
                <a:cs typeface="Tahoma"/>
              </a:rPr>
              <a:t>time</a:t>
            </a:r>
            <a:r>
              <a:rPr sz="4100" spc="-2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75" dirty="0">
                <a:solidFill>
                  <a:srgbClr val="40349E"/>
                </a:solidFill>
                <a:latin typeface="Tahoma"/>
                <a:cs typeface="Tahoma"/>
              </a:rPr>
              <a:t>seat</a:t>
            </a:r>
            <a:r>
              <a:rPr sz="4100" spc="-2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50" dirty="0">
                <a:solidFill>
                  <a:srgbClr val="40349E"/>
                </a:solidFill>
                <a:latin typeface="Tahoma"/>
                <a:cs typeface="Tahoma"/>
              </a:rPr>
              <a:t>availability</a:t>
            </a:r>
            <a:endParaRPr sz="4100">
              <a:latin typeface="Tahoma"/>
              <a:cs typeface="Tahoma"/>
            </a:endParaRPr>
          </a:p>
          <a:p>
            <a:pPr marL="12700" marR="4460875">
              <a:lnSpc>
                <a:spcPts val="4530"/>
              </a:lnSpc>
            </a:pPr>
            <a:r>
              <a:rPr sz="4100" dirty="0">
                <a:solidFill>
                  <a:srgbClr val="40349E"/>
                </a:solidFill>
                <a:latin typeface="Tahoma"/>
                <a:cs typeface="Tahoma"/>
              </a:rPr>
              <a:t>Integrate</a:t>
            </a:r>
            <a:r>
              <a:rPr sz="41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85" dirty="0">
                <a:solidFill>
                  <a:srgbClr val="40349E"/>
                </a:solidFill>
                <a:latin typeface="Tahoma"/>
                <a:cs typeface="Tahoma"/>
              </a:rPr>
              <a:t>secure</a:t>
            </a:r>
            <a:r>
              <a:rPr sz="41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70" dirty="0">
                <a:solidFill>
                  <a:srgbClr val="40349E"/>
                </a:solidFill>
                <a:latin typeface="Tahoma"/>
                <a:cs typeface="Tahoma"/>
              </a:rPr>
              <a:t>online</a:t>
            </a:r>
            <a:r>
              <a:rPr sz="41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45" dirty="0">
                <a:solidFill>
                  <a:srgbClr val="40349E"/>
                </a:solidFill>
                <a:latin typeface="Tahoma"/>
                <a:cs typeface="Tahoma"/>
              </a:rPr>
              <a:t>payment </a:t>
            </a:r>
            <a:r>
              <a:rPr sz="4100" spc="120" dirty="0">
                <a:solidFill>
                  <a:srgbClr val="40349E"/>
                </a:solidFill>
                <a:latin typeface="Tahoma"/>
                <a:cs typeface="Tahoma"/>
              </a:rPr>
              <a:t>Add</a:t>
            </a:r>
            <a:r>
              <a:rPr sz="4100" spc="-3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85" dirty="0">
                <a:solidFill>
                  <a:srgbClr val="40349E"/>
                </a:solidFill>
                <a:latin typeface="Tahoma"/>
                <a:cs typeface="Tahoma"/>
              </a:rPr>
              <a:t>email/SMS</a:t>
            </a:r>
            <a:r>
              <a:rPr sz="4100" spc="-2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55" dirty="0">
                <a:solidFill>
                  <a:srgbClr val="40349E"/>
                </a:solidFill>
                <a:latin typeface="Tahoma"/>
                <a:cs typeface="Tahoma"/>
              </a:rPr>
              <a:t>notifications </a:t>
            </a:r>
            <a:r>
              <a:rPr sz="4100" spc="75" dirty="0">
                <a:solidFill>
                  <a:srgbClr val="40349E"/>
                </a:solidFill>
                <a:latin typeface="Tahoma"/>
                <a:cs typeface="Tahoma"/>
              </a:rPr>
              <a:t>Provide</a:t>
            </a:r>
            <a:r>
              <a:rPr sz="4100" spc="-3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60" dirty="0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sz="4100" spc="-3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65" dirty="0">
                <a:solidFill>
                  <a:srgbClr val="40349E"/>
                </a:solidFill>
                <a:latin typeface="Tahoma"/>
                <a:cs typeface="Tahoma"/>
              </a:rPr>
              <a:t>dashboards </a:t>
            </a:r>
            <a:r>
              <a:rPr sz="4100" spc="120" dirty="0">
                <a:solidFill>
                  <a:srgbClr val="40349E"/>
                </a:solidFill>
                <a:latin typeface="Tahoma"/>
                <a:cs typeface="Tahoma"/>
              </a:rPr>
              <a:t>Add</a:t>
            </a:r>
            <a:r>
              <a:rPr sz="4100" spc="-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dirty="0">
                <a:solidFill>
                  <a:srgbClr val="40349E"/>
                </a:solidFill>
                <a:latin typeface="Tahoma"/>
                <a:cs typeface="Tahoma"/>
              </a:rPr>
              <a:t>organizer/admin</a:t>
            </a:r>
            <a:r>
              <a:rPr sz="4100" spc="-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55" dirty="0">
                <a:solidFill>
                  <a:srgbClr val="40349E"/>
                </a:solidFill>
                <a:latin typeface="Tahoma"/>
                <a:cs typeface="Tahoma"/>
              </a:rPr>
              <a:t>dashboard</a:t>
            </a:r>
            <a:endParaRPr sz="4100">
              <a:latin typeface="Tahoma"/>
              <a:cs typeface="Tahoma"/>
            </a:endParaRPr>
          </a:p>
          <a:p>
            <a:pPr marL="12700">
              <a:lnSpc>
                <a:spcPts val="4250"/>
              </a:lnSpc>
            </a:pPr>
            <a:r>
              <a:rPr sz="4100" spc="55" dirty="0">
                <a:solidFill>
                  <a:srgbClr val="40349E"/>
                </a:solidFill>
                <a:latin typeface="Tahoma"/>
                <a:cs typeface="Tahoma"/>
              </a:rPr>
              <a:t>Generate</a:t>
            </a:r>
            <a:r>
              <a:rPr sz="41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41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41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60" dirty="0">
                <a:solidFill>
                  <a:srgbClr val="40349E"/>
                </a:solidFill>
                <a:latin typeface="Tahoma"/>
                <a:cs typeface="Tahoma"/>
              </a:rPr>
              <a:t>transaction</a:t>
            </a:r>
            <a:r>
              <a:rPr sz="41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60" dirty="0">
                <a:solidFill>
                  <a:srgbClr val="40349E"/>
                </a:solidFill>
                <a:latin typeface="Tahoma"/>
                <a:cs typeface="Tahoma"/>
              </a:rPr>
              <a:t>reports</a:t>
            </a:r>
            <a:endParaRPr sz="4100">
              <a:latin typeface="Tahoma"/>
              <a:cs typeface="Tahoma"/>
            </a:endParaRPr>
          </a:p>
          <a:p>
            <a:pPr marL="12700">
              <a:lnSpc>
                <a:spcPts val="4725"/>
              </a:lnSpc>
            </a:pPr>
            <a:r>
              <a:rPr sz="4100" spc="70" dirty="0">
                <a:solidFill>
                  <a:srgbClr val="40349E"/>
                </a:solidFill>
                <a:latin typeface="Tahoma"/>
                <a:cs typeface="Tahoma"/>
              </a:rPr>
              <a:t>Improve</a:t>
            </a:r>
            <a:r>
              <a:rPr sz="4100" spc="-3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105" dirty="0">
                <a:solidFill>
                  <a:srgbClr val="40349E"/>
                </a:solidFill>
                <a:latin typeface="Tahoma"/>
                <a:cs typeface="Tahoma"/>
              </a:rPr>
              <a:t>mobile</a:t>
            </a:r>
            <a:r>
              <a:rPr sz="4100" spc="-3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100" spc="70" dirty="0">
                <a:solidFill>
                  <a:srgbClr val="40349E"/>
                </a:solidFill>
                <a:latin typeface="Tahoma"/>
                <a:cs typeface="Tahoma"/>
              </a:rPr>
              <a:t>responsiveness</a:t>
            </a:r>
            <a:endParaRPr sz="4100">
              <a:latin typeface="Tahoma"/>
              <a:cs typeface="Tahoma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-14321"/>
            <a:ext cx="3051517" cy="188122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810635" cy="5562600"/>
            <a:chOff x="0" y="0"/>
            <a:chExt cx="3810635" cy="5562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810190" cy="556212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0900" y="3079259"/>
              <a:ext cx="169906" cy="16990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0900" y="4141175"/>
              <a:ext cx="169906" cy="16990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0900" y="5203091"/>
              <a:ext cx="169906" cy="169906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060700">
              <a:lnSpc>
                <a:spcPct val="100000"/>
              </a:lnSpc>
              <a:spcBef>
                <a:spcPts val="125"/>
              </a:spcBef>
            </a:pPr>
            <a:r>
              <a:rPr spc="580" dirty="0"/>
              <a:t>CONCLUSION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0900" y="6265007"/>
            <a:ext cx="169906" cy="16990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50900" y="7326922"/>
            <a:ext cx="169906" cy="16990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62335" rIns="0" bIns="0" rtlCol="0">
            <a:spAutoFit/>
          </a:bodyPr>
          <a:lstStyle/>
          <a:p>
            <a:pPr marL="1033780" marR="5080">
              <a:lnSpc>
                <a:spcPts val="4180"/>
              </a:lnSpc>
              <a:spcBef>
                <a:spcPts val="540"/>
              </a:spcBef>
            </a:pPr>
            <a:r>
              <a:rPr sz="3750" spc="70" dirty="0"/>
              <a:t>EventEase</a:t>
            </a:r>
            <a:r>
              <a:rPr sz="3750" spc="-254" dirty="0"/>
              <a:t> </a:t>
            </a:r>
            <a:r>
              <a:rPr sz="3750" spc="75" dirty="0"/>
              <a:t>provides</a:t>
            </a:r>
            <a:r>
              <a:rPr sz="3750" spc="-254" dirty="0"/>
              <a:t> </a:t>
            </a:r>
            <a:r>
              <a:rPr sz="3750" dirty="0"/>
              <a:t>an</a:t>
            </a:r>
            <a:r>
              <a:rPr sz="3750" spc="-250" dirty="0"/>
              <a:t> </a:t>
            </a:r>
            <a:r>
              <a:rPr sz="3750" spc="50" dirty="0"/>
              <a:t>integrated</a:t>
            </a:r>
            <a:r>
              <a:rPr sz="3750" spc="-254" dirty="0"/>
              <a:t> </a:t>
            </a:r>
            <a:r>
              <a:rPr sz="3750" spc="55" dirty="0"/>
              <a:t>event</a:t>
            </a:r>
            <a:r>
              <a:rPr sz="3750" spc="-254" dirty="0"/>
              <a:t> </a:t>
            </a:r>
            <a:r>
              <a:rPr sz="3750" spc="45" dirty="0"/>
              <a:t>management </a:t>
            </a:r>
            <a:r>
              <a:rPr sz="3750" spc="60" dirty="0"/>
              <a:t>system.</a:t>
            </a:r>
            <a:endParaRPr sz="3750"/>
          </a:p>
          <a:p>
            <a:pPr marL="1033780" marR="215265">
              <a:lnSpc>
                <a:spcPts val="4180"/>
              </a:lnSpc>
            </a:pPr>
            <a:r>
              <a:rPr sz="3750" spc="90" dirty="0"/>
              <a:t>It</a:t>
            </a:r>
            <a:r>
              <a:rPr sz="3750" spc="-260" dirty="0"/>
              <a:t> </a:t>
            </a:r>
            <a:r>
              <a:rPr sz="3750" spc="55" dirty="0"/>
              <a:t>manages</a:t>
            </a:r>
            <a:r>
              <a:rPr sz="3750" spc="-254" dirty="0"/>
              <a:t> </a:t>
            </a:r>
            <a:r>
              <a:rPr sz="3750" spc="45" dirty="0"/>
              <a:t>events,</a:t>
            </a:r>
            <a:r>
              <a:rPr sz="3750" spc="-254" dirty="0"/>
              <a:t> </a:t>
            </a:r>
            <a:r>
              <a:rPr sz="3750" spc="60" dirty="0"/>
              <a:t>attendees,</a:t>
            </a:r>
            <a:r>
              <a:rPr sz="3750" spc="-254" dirty="0"/>
              <a:t> </a:t>
            </a:r>
            <a:r>
              <a:rPr sz="3750" spc="45" dirty="0"/>
              <a:t>registrations,</a:t>
            </a:r>
            <a:r>
              <a:rPr sz="3750" spc="-254" dirty="0"/>
              <a:t> </a:t>
            </a:r>
            <a:r>
              <a:rPr sz="3750" spc="-10" dirty="0"/>
              <a:t>venues, </a:t>
            </a:r>
            <a:r>
              <a:rPr sz="3750" spc="90" dirty="0"/>
              <a:t>sessions,</a:t>
            </a:r>
            <a:r>
              <a:rPr sz="3750" spc="-265" dirty="0"/>
              <a:t> </a:t>
            </a:r>
            <a:r>
              <a:rPr sz="3750" spc="95" dirty="0"/>
              <a:t>speakers</a:t>
            </a:r>
            <a:r>
              <a:rPr sz="3750" spc="-260" dirty="0"/>
              <a:t> </a:t>
            </a:r>
            <a:r>
              <a:rPr sz="3750" spc="55" dirty="0"/>
              <a:t>and</a:t>
            </a:r>
            <a:r>
              <a:rPr sz="3750" spc="-265" dirty="0"/>
              <a:t> </a:t>
            </a:r>
            <a:r>
              <a:rPr sz="3750" spc="55" dirty="0"/>
              <a:t>seats.</a:t>
            </a:r>
            <a:endParaRPr sz="3750"/>
          </a:p>
          <a:p>
            <a:pPr marL="1033780" marR="2343150">
              <a:lnSpc>
                <a:spcPts val="4180"/>
              </a:lnSpc>
            </a:pPr>
            <a:r>
              <a:rPr sz="3750" spc="55" dirty="0"/>
              <a:t>Registration</a:t>
            </a:r>
            <a:r>
              <a:rPr sz="3750" spc="-254" dirty="0"/>
              <a:t> </a:t>
            </a:r>
            <a:r>
              <a:rPr sz="3750" spc="95" dirty="0"/>
              <a:t>details</a:t>
            </a:r>
            <a:r>
              <a:rPr sz="3750" spc="-254" dirty="0"/>
              <a:t> </a:t>
            </a:r>
            <a:r>
              <a:rPr sz="3750" spc="80" dirty="0"/>
              <a:t>can</a:t>
            </a:r>
            <a:r>
              <a:rPr sz="3750" spc="-250" dirty="0"/>
              <a:t> </a:t>
            </a:r>
            <a:r>
              <a:rPr sz="3750" spc="95" dirty="0"/>
              <a:t>be</a:t>
            </a:r>
            <a:r>
              <a:rPr sz="3750" spc="-254" dirty="0"/>
              <a:t> </a:t>
            </a:r>
            <a:r>
              <a:rPr sz="3750" spc="90" dirty="0"/>
              <a:t>connected</a:t>
            </a:r>
            <a:r>
              <a:rPr sz="3750" spc="-254" dirty="0"/>
              <a:t> </a:t>
            </a:r>
            <a:r>
              <a:rPr sz="3750" spc="50" dirty="0"/>
              <a:t>with </a:t>
            </a:r>
            <a:r>
              <a:rPr sz="3750" spc="75" dirty="0"/>
              <a:t>transactions</a:t>
            </a:r>
            <a:r>
              <a:rPr sz="3750" spc="-260" dirty="0"/>
              <a:t> </a:t>
            </a:r>
            <a:r>
              <a:rPr sz="3750" spc="55" dirty="0"/>
              <a:t>and</a:t>
            </a:r>
            <a:r>
              <a:rPr sz="3750" spc="-260" dirty="0"/>
              <a:t> </a:t>
            </a:r>
            <a:r>
              <a:rPr sz="3750" spc="90" dirty="0"/>
              <a:t>seat</a:t>
            </a:r>
            <a:r>
              <a:rPr sz="3750" spc="-254" dirty="0"/>
              <a:t> </a:t>
            </a:r>
            <a:r>
              <a:rPr sz="3750" spc="60" dirty="0"/>
              <a:t>allocation.</a:t>
            </a:r>
            <a:endParaRPr sz="3750"/>
          </a:p>
          <a:p>
            <a:pPr marL="1033780" marR="153035">
              <a:lnSpc>
                <a:spcPts val="4180"/>
              </a:lnSpc>
              <a:spcBef>
                <a:spcPts val="5"/>
              </a:spcBef>
            </a:pPr>
            <a:r>
              <a:rPr sz="3750" spc="95" dirty="0"/>
              <a:t>Attendees</a:t>
            </a:r>
            <a:r>
              <a:rPr sz="3750" spc="-270" dirty="0"/>
              <a:t> </a:t>
            </a:r>
            <a:r>
              <a:rPr sz="3750" spc="80" dirty="0"/>
              <a:t>can</a:t>
            </a:r>
            <a:r>
              <a:rPr sz="3750" spc="-265" dirty="0"/>
              <a:t> </a:t>
            </a:r>
            <a:r>
              <a:rPr sz="3750" spc="130" dirty="0"/>
              <a:t>access</a:t>
            </a:r>
            <a:r>
              <a:rPr sz="3750" spc="-265" dirty="0"/>
              <a:t> </a:t>
            </a:r>
            <a:r>
              <a:rPr sz="3750" spc="55" dirty="0"/>
              <a:t>event</a:t>
            </a:r>
            <a:r>
              <a:rPr sz="3750" spc="-265" dirty="0"/>
              <a:t> </a:t>
            </a:r>
            <a:r>
              <a:rPr sz="3750" spc="55" dirty="0"/>
              <a:t>information</a:t>
            </a:r>
            <a:r>
              <a:rPr sz="3750" spc="-265" dirty="0"/>
              <a:t> </a:t>
            </a:r>
            <a:r>
              <a:rPr sz="3750" spc="55" dirty="0"/>
              <a:t>and</a:t>
            </a:r>
            <a:r>
              <a:rPr sz="3750" spc="-265" dirty="0"/>
              <a:t> </a:t>
            </a:r>
            <a:r>
              <a:rPr sz="3750" spc="70" dirty="0"/>
              <a:t>support </a:t>
            </a:r>
            <a:r>
              <a:rPr sz="3750" spc="60" dirty="0"/>
              <a:t>services.</a:t>
            </a:r>
            <a:endParaRPr sz="3750"/>
          </a:p>
          <a:p>
            <a:pPr marL="1033780" marR="1604010">
              <a:lnSpc>
                <a:spcPts val="4180"/>
              </a:lnSpc>
            </a:pPr>
            <a:r>
              <a:rPr sz="3750" dirty="0"/>
              <a:t>The</a:t>
            </a:r>
            <a:r>
              <a:rPr sz="3750" spc="-250" dirty="0"/>
              <a:t> </a:t>
            </a:r>
            <a:r>
              <a:rPr sz="3750" spc="100" dirty="0"/>
              <a:t>system</a:t>
            </a:r>
            <a:r>
              <a:rPr sz="3750" spc="-245" dirty="0"/>
              <a:t> </a:t>
            </a:r>
            <a:r>
              <a:rPr sz="3750" spc="75" dirty="0"/>
              <a:t>provides</a:t>
            </a:r>
            <a:r>
              <a:rPr sz="3750" spc="-245" dirty="0"/>
              <a:t> </a:t>
            </a:r>
            <a:r>
              <a:rPr sz="3750" dirty="0"/>
              <a:t>a</a:t>
            </a:r>
            <a:r>
              <a:rPr sz="3750" spc="-245" dirty="0"/>
              <a:t> </a:t>
            </a:r>
            <a:r>
              <a:rPr sz="3750" spc="75" dirty="0"/>
              <a:t>structured</a:t>
            </a:r>
            <a:r>
              <a:rPr sz="3750" spc="-245" dirty="0"/>
              <a:t> </a:t>
            </a:r>
            <a:r>
              <a:rPr sz="3750" spc="70" dirty="0"/>
              <a:t>approach</a:t>
            </a:r>
            <a:r>
              <a:rPr sz="3750" spc="-245" dirty="0"/>
              <a:t> </a:t>
            </a:r>
            <a:r>
              <a:rPr sz="3750" spc="50" dirty="0"/>
              <a:t>to </a:t>
            </a:r>
            <a:r>
              <a:rPr sz="3750" dirty="0"/>
              <a:t>managing</a:t>
            </a:r>
            <a:r>
              <a:rPr sz="3750" spc="-185" dirty="0"/>
              <a:t> </a:t>
            </a:r>
            <a:r>
              <a:rPr sz="3750" spc="65" dirty="0"/>
              <a:t>event-</a:t>
            </a:r>
            <a:r>
              <a:rPr sz="3750" spc="80" dirty="0"/>
              <a:t>related</a:t>
            </a:r>
            <a:r>
              <a:rPr sz="3750" spc="-185" dirty="0"/>
              <a:t> </a:t>
            </a:r>
            <a:r>
              <a:rPr sz="3750" spc="-10" dirty="0"/>
              <a:t>data.</a:t>
            </a:r>
            <a:endParaRPr sz="37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0"/>
            <a:ext cx="2730543" cy="184415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10190" cy="556212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074670">
              <a:lnSpc>
                <a:spcPct val="100000"/>
              </a:lnSpc>
              <a:spcBef>
                <a:spcPts val="125"/>
              </a:spcBef>
            </a:pPr>
            <a:r>
              <a:rPr spc="675" dirty="0"/>
              <a:t>REFERENCES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7798" y="3208382"/>
            <a:ext cx="152400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7798" y="4160882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7798" y="4637132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7798" y="5113382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7798" y="6065882"/>
            <a:ext cx="152400" cy="1523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09005" rIns="0" bIns="0" rtlCol="0">
            <a:spAutoFit/>
          </a:bodyPr>
          <a:lstStyle/>
          <a:p>
            <a:pPr marL="1588135" marR="5080">
              <a:lnSpc>
                <a:spcPts val="3750"/>
              </a:lnSpc>
              <a:spcBef>
                <a:spcPts val="495"/>
              </a:spcBef>
            </a:pPr>
            <a:r>
              <a:rPr dirty="0"/>
              <a:t>Database</a:t>
            </a:r>
            <a:r>
              <a:rPr spc="-105" dirty="0"/>
              <a:t> </a:t>
            </a:r>
            <a:r>
              <a:rPr dirty="0"/>
              <a:t>Management</a:t>
            </a:r>
            <a:r>
              <a:rPr spc="-100" dirty="0"/>
              <a:t> </a:t>
            </a:r>
            <a:r>
              <a:rPr spc="60" dirty="0"/>
              <a:t>System</a:t>
            </a:r>
            <a:r>
              <a:rPr spc="-100" dirty="0"/>
              <a:t> </a:t>
            </a:r>
            <a:r>
              <a:rPr spc="60" dirty="0"/>
              <a:t>textbooks</a:t>
            </a:r>
            <a:r>
              <a:rPr spc="-105" dirty="0"/>
              <a:t> </a:t>
            </a:r>
            <a:r>
              <a:rPr dirty="0"/>
              <a:t>and</a:t>
            </a:r>
            <a:r>
              <a:rPr spc="-100" dirty="0"/>
              <a:t> </a:t>
            </a:r>
            <a:r>
              <a:rPr spc="50" dirty="0"/>
              <a:t>course materials</a:t>
            </a:r>
          </a:p>
          <a:p>
            <a:pPr marL="1588135" marR="2170430">
              <a:lnSpc>
                <a:spcPts val="3750"/>
              </a:lnSpc>
            </a:pPr>
            <a:r>
              <a:rPr dirty="0"/>
              <a:t>HTML,</a:t>
            </a:r>
            <a:r>
              <a:rPr spc="-220" dirty="0"/>
              <a:t> </a:t>
            </a:r>
            <a:r>
              <a:rPr spc="55" dirty="0"/>
              <a:t>CSS</a:t>
            </a:r>
            <a:r>
              <a:rPr spc="-220" dirty="0"/>
              <a:t> </a:t>
            </a:r>
            <a:r>
              <a:rPr dirty="0"/>
              <a:t>and</a:t>
            </a:r>
            <a:r>
              <a:rPr spc="-220" dirty="0"/>
              <a:t> </a:t>
            </a:r>
            <a:r>
              <a:rPr spc="65" dirty="0"/>
              <a:t>JavaScript</a:t>
            </a:r>
            <a:r>
              <a:rPr spc="-220" dirty="0"/>
              <a:t> </a:t>
            </a:r>
            <a:r>
              <a:rPr spc="35" dirty="0"/>
              <a:t>documentation </a:t>
            </a:r>
            <a:r>
              <a:rPr dirty="0"/>
              <a:t>MySQL</a:t>
            </a:r>
            <a:r>
              <a:rPr spc="-100" dirty="0"/>
              <a:t> </a:t>
            </a:r>
            <a:r>
              <a:rPr spc="35" dirty="0"/>
              <a:t>documentation</a:t>
            </a:r>
          </a:p>
          <a:p>
            <a:pPr marL="1588135" marR="1219200">
              <a:lnSpc>
                <a:spcPts val="3750"/>
              </a:lnSpc>
            </a:pPr>
            <a:r>
              <a:rPr spc="55" dirty="0"/>
              <a:t>Research</a:t>
            </a:r>
            <a:r>
              <a:rPr spc="-215" dirty="0"/>
              <a:t> </a:t>
            </a:r>
            <a:r>
              <a:rPr spc="65" dirty="0"/>
              <a:t>papers</a:t>
            </a:r>
            <a:r>
              <a:rPr spc="-215" dirty="0"/>
              <a:t> </a:t>
            </a:r>
            <a:r>
              <a:rPr spc="60" dirty="0"/>
              <a:t>related</a:t>
            </a:r>
            <a:r>
              <a:rPr spc="-210" dirty="0"/>
              <a:t> </a:t>
            </a:r>
            <a:r>
              <a:rPr dirty="0"/>
              <a:t>to</a:t>
            </a:r>
            <a:r>
              <a:rPr spc="-215" dirty="0"/>
              <a:t> </a:t>
            </a:r>
            <a:r>
              <a:rPr dirty="0"/>
              <a:t>Event</a:t>
            </a:r>
            <a:r>
              <a:rPr spc="-215" dirty="0"/>
              <a:t> </a:t>
            </a:r>
            <a:r>
              <a:rPr spc="-10" dirty="0"/>
              <a:t>Management </a:t>
            </a:r>
            <a:r>
              <a:rPr spc="60" dirty="0"/>
              <a:t>Systems</a:t>
            </a:r>
          </a:p>
          <a:p>
            <a:pPr marL="1588135">
              <a:lnSpc>
                <a:spcPts val="3679"/>
              </a:lnSpc>
            </a:pPr>
            <a:r>
              <a:rPr spc="55" dirty="0"/>
              <a:t>References</a:t>
            </a:r>
            <a:r>
              <a:rPr spc="-240" dirty="0"/>
              <a:t> </a:t>
            </a:r>
            <a:r>
              <a:rPr spc="75" dirty="0"/>
              <a:t>used</a:t>
            </a:r>
            <a:r>
              <a:rPr spc="-235" dirty="0"/>
              <a:t> </a:t>
            </a:r>
            <a:r>
              <a:rPr dirty="0"/>
              <a:t>for</a:t>
            </a:r>
            <a:r>
              <a:rPr spc="-240" dirty="0"/>
              <a:t> </a:t>
            </a:r>
            <a:r>
              <a:rPr spc="45" dirty="0"/>
              <a:t>literature</a:t>
            </a:r>
            <a:r>
              <a:rPr spc="-235" dirty="0"/>
              <a:t> </a:t>
            </a:r>
            <a:r>
              <a:rPr spc="-10" dirty="0"/>
              <a:t>survey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514600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74080" y="3194938"/>
            <a:ext cx="5739765" cy="3682365"/>
          </a:xfrm>
          <a:prstGeom prst="rect">
            <a:avLst/>
          </a:prstGeom>
        </p:spPr>
        <p:txBody>
          <a:bodyPr vert="horz" wrap="square" lIns="0" tIns="321310" rIns="0" bIns="0" rtlCol="0">
            <a:spAutoFit/>
          </a:bodyPr>
          <a:lstStyle/>
          <a:p>
            <a:pPr marL="1155700" marR="5080" indent="-1143635">
              <a:lnSpc>
                <a:spcPts val="13200"/>
              </a:lnSpc>
              <a:spcBef>
                <a:spcPts val="2530"/>
              </a:spcBef>
            </a:pPr>
            <a:r>
              <a:rPr sz="13000" spc="575" dirty="0"/>
              <a:t>THANK </a:t>
            </a:r>
            <a:r>
              <a:rPr sz="13000" spc="265" dirty="0"/>
              <a:t>YOU</a:t>
            </a:r>
            <a:endParaRPr sz="13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BC6860-1056-08B1-FA30-9F0B749F8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" y="0"/>
            <a:ext cx="3119284" cy="1866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1258</Words>
  <Application>Microsoft Office PowerPoint</Application>
  <PresentationFormat>Custom</PresentationFormat>
  <Paragraphs>175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Arial Black</vt:lpstr>
      <vt:lpstr>Tahoma</vt:lpstr>
      <vt:lpstr>Times New Roman</vt:lpstr>
      <vt:lpstr>Trebuchet MS</vt:lpstr>
      <vt:lpstr>Office Theme</vt:lpstr>
      <vt:lpstr>EVENTEASE</vt:lpstr>
      <vt:lpstr>ABSTRACT</vt:lpstr>
      <vt:lpstr>PROBLEM STATEMENT</vt:lpstr>
      <vt:lpstr>MOTIVATION</vt:lpstr>
      <vt:lpstr>OBJECTIVES</vt:lpstr>
      <vt:lpstr>LITERATURE SURVEY</vt:lpstr>
      <vt:lpstr>RESEARCH GAP</vt:lpstr>
      <vt:lpstr>PROPOSED METHODOLOGY</vt:lpstr>
      <vt:lpstr>SYSTEM ARCHITECTURE</vt:lpstr>
      <vt:lpstr>TECHNOLOGIES USED</vt:lpstr>
      <vt:lpstr>DATASET</vt:lpstr>
      <vt:lpstr>IMPLEMENTATION – MODULE 1</vt:lpstr>
      <vt:lpstr>IMPLEMENTATION – MODULE 2</vt:lpstr>
      <vt:lpstr>IMPLEMENTATION – MODULE 3</vt:lpstr>
      <vt:lpstr>EXPERIMENTAL SETUP</vt:lpstr>
      <vt:lpstr>RESULTS</vt:lpstr>
      <vt:lpstr>PERFORMANCE EVALUATION</vt:lpstr>
      <vt:lpstr>WORKING DEMO</vt:lpstr>
      <vt:lpstr>WORKING DEMO</vt:lpstr>
      <vt:lpstr>WORKING DEMO</vt:lpstr>
      <vt:lpstr>WORKING DEMO</vt:lpstr>
      <vt:lpstr>WORKING DEMO</vt:lpstr>
      <vt:lpstr>COMPARISON WITH EXISTING SYSTEM</vt:lpstr>
      <vt:lpstr>CHALLENGES &amp; SOLUTIONS</vt:lpstr>
      <vt:lpstr>FUTURE WORK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Minimalist Professional Project Presentation</dc:title>
  <dc:creator>Rakshitha</dc:creator>
  <cp:keywords>DAHLgIlciTk,BAG4BxSE4BA</cp:keywords>
  <cp:lastModifiedBy>Jangirala Rakshitha</cp:lastModifiedBy>
  <cp:revision>1</cp:revision>
  <dcterms:created xsi:type="dcterms:W3CDTF">2026-10-03T04:02:58Z</dcterms:created>
  <dcterms:modified xsi:type="dcterms:W3CDTF">2026-10-03T04:23:19Z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2026-09-30T00:00:00Z</vt:filetime>
  </property>
  <property fmtid="{D5CDD505-2E9C-101B-9397-08002B2CF9AE}" pid="4" name="Creator">
    <vt:lpwstr>Canva</vt:lpwstr>
  </property>
  <property fmtid="{D5CDD505-2E9C-101B-9397-08002B2CF9AE}" pid="5" name="LastSaved">
    <vt:filetime>2026-10-03T00:00:00Z</vt:filetime>
  </property>
  <property fmtid="{D5CDD505-2E9C-101B-9397-08002B2CF9AE}" pid="6" name="Producer">
    <vt:lpwstr>Canva</vt:lpwstr>
  </property>
</Properties>
</file>