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2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0349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2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0349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2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2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73784" y="4722865"/>
            <a:ext cx="3814215" cy="556413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73151" y="67920"/>
            <a:ext cx="10141697" cy="1584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2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10935" y="1891240"/>
            <a:ext cx="13557885" cy="6257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0349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70886" y="1600727"/>
            <a:ext cx="9745980" cy="20059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000" spc="760" dirty="0"/>
              <a:t>EVENTEASE</a:t>
            </a:r>
            <a:endParaRPr sz="13000"/>
          </a:p>
        </p:txBody>
      </p:sp>
      <p:sp>
        <p:nvSpPr>
          <p:cNvPr id="3" name="object 3"/>
          <p:cNvSpPr txBox="1"/>
          <p:nvPr/>
        </p:nvSpPr>
        <p:spPr>
          <a:xfrm>
            <a:off x="8294406" y="8293247"/>
            <a:ext cx="709739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0" dirty="0">
                <a:solidFill>
                  <a:srgbClr val="40349E"/>
                </a:solidFill>
                <a:latin typeface="Tahoma"/>
                <a:cs typeface="Tahoma"/>
              </a:rPr>
              <a:t>Events</a:t>
            </a:r>
            <a:r>
              <a:rPr sz="4000" spc="-2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000" spc="80" dirty="0">
                <a:solidFill>
                  <a:srgbClr val="40349E"/>
                </a:solidFill>
                <a:latin typeface="Tahoma"/>
                <a:cs typeface="Tahoma"/>
              </a:rPr>
              <a:t>Made</a:t>
            </a:r>
            <a:r>
              <a:rPr sz="4000" spc="-2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000" spc="95" dirty="0">
                <a:solidFill>
                  <a:srgbClr val="40349E"/>
                </a:solidFill>
                <a:latin typeface="Tahoma"/>
                <a:cs typeface="Tahoma"/>
              </a:rPr>
              <a:t>Simple</a:t>
            </a:r>
            <a:r>
              <a:rPr sz="4000" spc="-2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4000" spc="-2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4000" spc="40" dirty="0">
                <a:solidFill>
                  <a:srgbClr val="40349E"/>
                </a:solidFill>
                <a:latin typeface="Tahoma"/>
                <a:cs typeface="Tahoma"/>
              </a:rPr>
              <a:t>Smart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5461" y="9239250"/>
            <a:ext cx="8194675" cy="0"/>
          </a:xfrm>
          <a:custGeom>
            <a:avLst/>
            <a:gdLst/>
            <a:ahLst/>
            <a:cxnLst/>
            <a:rect l="l" t="t" r="r" b="b"/>
            <a:pathLst>
              <a:path w="8194675">
                <a:moveTo>
                  <a:pt x="0" y="0"/>
                </a:moveTo>
                <a:lnTo>
                  <a:pt x="8194179" y="0"/>
                </a:lnTo>
              </a:path>
            </a:pathLst>
          </a:custGeom>
          <a:ln w="38099">
            <a:solidFill>
              <a:srgbClr val="4034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07384" y="4847506"/>
            <a:ext cx="13873480" cy="182943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2591435" marR="5080" indent="-2579370">
              <a:lnSpc>
                <a:spcPts val="6530"/>
              </a:lnSpc>
              <a:spcBef>
                <a:spcPts val="1275"/>
              </a:spcBef>
            </a:pPr>
            <a:r>
              <a:rPr sz="6400" b="1" spc="165" dirty="0">
                <a:solidFill>
                  <a:srgbClr val="40349E"/>
                </a:solidFill>
                <a:latin typeface="Trebuchet MS"/>
                <a:cs typeface="Trebuchet MS"/>
              </a:rPr>
              <a:t>Event</a:t>
            </a:r>
            <a:r>
              <a:rPr sz="64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260" dirty="0">
                <a:solidFill>
                  <a:srgbClr val="40349E"/>
                </a:solidFill>
                <a:latin typeface="Trebuchet MS"/>
                <a:cs typeface="Trebuchet MS"/>
              </a:rPr>
              <a:t>Management</a:t>
            </a:r>
            <a:r>
              <a:rPr sz="64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225" dirty="0">
                <a:solidFill>
                  <a:srgbClr val="40349E"/>
                </a:solidFill>
                <a:latin typeface="Trebuchet MS"/>
                <a:cs typeface="Trebuchet MS"/>
              </a:rPr>
              <a:t>Mobile</a:t>
            </a:r>
            <a:r>
              <a:rPr sz="64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250" dirty="0">
                <a:solidFill>
                  <a:srgbClr val="40349E"/>
                </a:solidFill>
                <a:latin typeface="Trebuchet MS"/>
                <a:cs typeface="Trebuchet MS"/>
              </a:rPr>
              <a:t>App</a:t>
            </a:r>
            <a:r>
              <a:rPr sz="64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90" dirty="0">
                <a:solidFill>
                  <a:srgbClr val="40349E"/>
                </a:solidFill>
                <a:latin typeface="Trebuchet MS"/>
                <a:cs typeface="Trebuchet MS"/>
              </a:rPr>
              <a:t>for </a:t>
            </a:r>
            <a:r>
              <a:rPr sz="6400" b="1" spc="130" dirty="0">
                <a:solidFill>
                  <a:srgbClr val="40349E"/>
                </a:solidFill>
                <a:latin typeface="Trebuchet MS"/>
                <a:cs typeface="Trebuchet MS"/>
              </a:rPr>
              <a:t>Attendee</a:t>
            </a:r>
            <a:r>
              <a:rPr sz="64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295" dirty="0">
                <a:solidFill>
                  <a:srgbClr val="40349E"/>
                </a:solidFill>
                <a:latin typeface="Trebuchet MS"/>
                <a:cs typeface="Trebuchet MS"/>
              </a:rPr>
              <a:t>Self</a:t>
            </a:r>
            <a:r>
              <a:rPr sz="6400" b="1" spc="50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6400" b="1" spc="140" dirty="0">
                <a:solidFill>
                  <a:srgbClr val="40349E"/>
                </a:solidFill>
                <a:latin typeface="Trebuchet MS"/>
                <a:cs typeface="Trebuchet MS"/>
              </a:rPr>
              <a:t>Service</a:t>
            </a:r>
            <a:endParaRPr sz="6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2624" y="8472551"/>
            <a:ext cx="5824855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60"/>
              </a:lnSpc>
              <a:spcBef>
                <a:spcPts val="100"/>
              </a:spcBef>
            </a:pPr>
            <a:r>
              <a:rPr sz="3500" b="1" dirty="0">
                <a:solidFill>
                  <a:srgbClr val="40349E"/>
                </a:solidFill>
                <a:latin typeface="Trebuchet MS"/>
                <a:cs typeface="Trebuchet MS"/>
              </a:rPr>
              <a:t>2520090212-</a:t>
            </a:r>
            <a:r>
              <a:rPr sz="3500" b="1" spc="2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3500" b="1" spc="220" dirty="0">
                <a:solidFill>
                  <a:srgbClr val="40349E"/>
                </a:solidFill>
                <a:latin typeface="Trebuchet MS"/>
                <a:cs typeface="Trebuchet MS"/>
              </a:rPr>
              <a:t>J</a:t>
            </a:r>
            <a:r>
              <a:rPr sz="3500" b="1" spc="2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3500" b="1" spc="120" dirty="0">
                <a:solidFill>
                  <a:srgbClr val="40349E"/>
                </a:solidFill>
                <a:latin typeface="Trebuchet MS"/>
                <a:cs typeface="Trebuchet MS"/>
              </a:rPr>
              <a:t>Rakshitha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ts val="3525"/>
              </a:lnSpc>
            </a:pPr>
            <a:r>
              <a:rPr sz="3500" b="1" spc="55" dirty="0">
                <a:solidFill>
                  <a:srgbClr val="40349E"/>
                </a:solidFill>
                <a:latin typeface="Trebuchet MS"/>
                <a:cs typeface="Trebuchet MS"/>
              </a:rPr>
              <a:t>2520090214-</a:t>
            </a:r>
            <a:r>
              <a:rPr sz="3500" b="1" spc="2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3500" b="1" spc="229" dirty="0">
                <a:solidFill>
                  <a:srgbClr val="40349E"/>
                </a:solidFill>
                <a:latin typeface="Trebuchet MS"/>
                <a:cs typeface="Trebuchet MS"/>
              </a:rPr>
              <a:t>N</a:t>
            </a:r>
            <a:r>
              <a:rPr sz="3500" b="1" spc="2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3500" b="1" spc="114" dirty="0">
                <a:solidFill>
                  <a:srgbClr val="40349E"/>
                </a:solidFill>
                <a:latin typeface="Trebuchet MS"/>
                <a:cs typeface="Trebuchet MS"/>
              </a:rPr>
              <a:t>Charishma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ts val="3865"/>
              </a:lnSpc>
            </a:pPr>
            <a:r>
              <a:rPr sz="3500" b="1" spc="114" dirty="0">
                <a:solidFill>
                  <a:srgbClr val="40349E"/>
                </a:solidFill>
                <a:latin typeface="Trebuchet MS"/>
                <a:cs typeface="Trebuchet MS"/>
              </a:rPr>
              <a:t>2520090067-</a:t>
            </a:r>
            <a:r>
              <a:rPr sz="3500" b="1" spc="45" dirty="0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sz="3500" b="1" spc="160" dirty="0">
                <a:solidFill>
                  <a:srgbClr val="40349E"/>
                </a:solidFill>
                <a:latin typeface="Trebuchet MS"/>
                <a:cs typeface="Trebuchet MS"/>
              </a:rPr>
              <a:t>Sahasra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93987" y="9277350"/>
            <a:ext cx="9610090" cy="0"/>
          </a:xfrm>
          <a:custGeom>
            <a:avLst/>
            <a:gdLst/>
            <a:ahLst/>
            <a:cxnLst/>
            <a:rect l="l" t="t" r="r" b="b"/>
            <a:pathLst>
              <a:path w="9610090">
                <a:moveTo>
                  <a:pt x="0" y="0"/>
                </a:moveTo>
                <a:lnTo>
                  <a:pt x="9609888" y="0"/>
                </a:lnTo>
              </a:path>
            </a:pathLst>
          </a:custGeom>
          <a:ln w="38099">
            <a:solidFill>
              <a:srgbClr val="4034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95353" y="782735"/>
            <a:ext cx="6897370" cy="1584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80" dirty="0"/>
              <a:t>ABSTRACT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290" y="2722978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290" y="4123153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290" y="5056603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290" y="5990053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290" y="7390227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1290" y="8323677"/>
            <a:ext cx="152400" cy="1523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247563" y="2510920"/>
            <a:ext cx="13303885" cy="6595109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450"/>
              </a:spcBef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Traditional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management</a:t>
            </a:r>
            <a:r>
              <a:rPr sz="33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often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requires</a:t>
            </a:r>
            <a:r>
              <a:rPr sz="33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3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depend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25" dirty="0">
                <a:solidFill>
                  <a:srgbClr val="40349E"/>
                </a:solidFill>
                <a:latin typeface="Tahoma"/>
                <a:cs typeface="Tahoma"/>
              </a:rPr>
              <a:t>on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sz="3300" spc="-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</a:t>
            </a:r>
            <a:r>
              <a:rPr sz="3300" spc="-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volunteers</a:t>
            </a:r>
            <a:r>
              <a:rPr sz="3300" spc="-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300" spc="-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registration,</a:t>
            </a:r>
            <a:r>
              <a:rPr sz="3300" spc="-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schedules,</a:t>
            </a:r>
            <a:r>
              <a:rPr sz="3300" spc="-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sz="3300" spc="-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information,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announcements.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445"/>
              </a:lnSpc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This</a:t>
            </a:r>
            <a:r>
              <a:rPr sz="33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dependency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can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result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in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long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queues,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repeated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queries,</a:t>
            </a:r>
            <a:endParaRPr sz="3300">
              <a:latin typeface="Tahoma"/>
              <a:cs typeface="Tahoma"/>
            </a:endParaRPr>
          </a:p>
          <a:p>
            <a:pPr marL="12700" marR="61594" algn="just">
              <a:lnSpc>
                <a:spcPts val="3679"/>
              </a:lnSpc>
              <a:spcBef>
                <a:spcPts val="215"/>
              </a:spcBef>
            </a:pP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communication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gaps,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difficulty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in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managing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information.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EventEase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is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75" dirty="0">
                <a:solidFill>
                  <a:srgbClr val="40349E"/>
                </a:solidFill>
                <a:latin typeface="Tahoma"/>
                <a:cs typeface="Tahoma"/>
              </a:rPr>
              <a:t>mobile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40349E"/>
                </a:solidFill>
                <a:latin typeface="Tahoma"/>
                <a:cs typeface="Tahoma"/>
              </a:rPr>
              <a:t>self-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service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platform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designed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give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attendees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independent</a:t>
            </a:r>
            <a:r>
              <a:rPr sz="33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convenient</a:t>
            </a:r>
            <a:r>
              <a:rPr sz="33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access</a:t>
            </a:r>
            <a:r>
              <a:rPr sz="33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3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300" spc="-1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services.</a:t>
            </a:r>
            <a:endParaRPr sz="3300">
              <a:latin typeface="Tahoma"/>
              <a:cs typeface="Tahoma"/>
            </a:endParaRPr>
          </a:p>
          <a:p>
            <a:pPr marL="12700" algn="just">
              <a:lnSpc>
                <a:spcPts val="3445"/>
              </a:lnSpc>
            </a:pP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can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create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accounts,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40349E"/>
                </a:solidFill>
                <a:latin typeface="Tahoma"/>
                <a:cs typeface="Tahoma"/>
              </a:rPr>
              <a:t>browse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register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events,</a:t>
            </a:r>
            <a:r>
              <a:rPr sz="33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20" dirty="0">
                <a:solidFill>
                  <a:srgbClr val="40349E"/>
                </a:solidFill>
                <a:latin typeface="Tahoma"/>
                <a:cs typeface="Tahoma"/>
              </a:rPr>
              <a:t>view</a:t>
            </a:r>
            <a:endParaRPr sz="3300">
              <a:latin typeface="Tahoma"/>
              <a:cs typeface="Tahoma"/>
            </a:endParaRPr>
          </a:p>
          <a:p>
            <a:pPr marL="12700" marR="827405">
              <a:lnSpc>
                <a:spcPts val="3679"/>
              </a:lnSpc>
              <a:spcBef>
                <a:spcPts val="210"/>
              </a:spcBef>
            </a:pP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schedules,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select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track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sessions,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access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sz="33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20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speaker </a:t>
            </a:r>
            <a:r>
              <a:rPr sz="3300" spc="35" dirty="0">
                <a:solidFill>
                  <a:srgbClr val="40349E"/>
                </a:solidFill>
                <a:latin typeface="Tahoma"/>
                <a:cs typeface="Tahoma"/>
              </a:rPr>
              <a:t>details.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450"/>
              </a:lnSpc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system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centrally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manages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attendee,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event,</a:t>
            </a:r>
            <a:r>
              <a:rPr sz="33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session,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registration,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675"/>
              </a:lnSpc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venue,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speaker,</a:t>
            </a:r>
            <a:r>
              <a:rPr sz="33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notification</a:t>
            </a:r>
            <a:r>
              <a:rPr sz="3300" spc="-1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data.</a:t>
            </a:r>
            <a:endParaRPr sz="3300">
              <a:latin typeface="Tahoma"/>
              <a:cs typeface="Tahoma"/>
            </a:endParaRPr>
          </a:p>
          <a:p>
            <a:pPr marL="12700" marR="33655">
              <a:lnSpc>
                <a:spcPts val="3679"/>
              </a:lnSpc>
              <a:spcBef>
                <a:spcPts val="215"/>
              </a:spcBef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main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goal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is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reduce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manual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40349E"/>
                </a:solidFill>
                <a:latin typeface="Tahoma"/>
                <a:cs typeface="Tahoma"/>
              </a:rPr>
              <a:t>workload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provide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with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faster,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organized,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independent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services.</a:t>
            </a:r>
            <a:endParaRPr sz="3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48769" y="928672"/>
            <a:ext cx="9951085" cy="15843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459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3336060"/>
            <a:ext cx="152400" cy="152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4269510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5202960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6136410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7536585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8003310"/>
            <a:ext cx="152400" cy="1523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54361" y="3124002"/>
            <a:ext cx="12040870" cy="566166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450"/>
              </a:spcBef>
            </a:pP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300" spc="-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often</a:t>
            </a:r>
            <a:r>
              <a:rPr sz="3300" spc="-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depend</a:t>
            </a:r>
            <a:r>
              <a:rPr sz="3300" spc="-1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on</a:t>
            </a:r>
            <a:r>
              <a:rPr sz="3300" spc="-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sz="3300" spc="-1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300" spc="-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300" spc="-1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information</a:t>
            </a:r>
            <a:r>
              <a:rPr sz="3300" spc="-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25" dirty="0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sz="3300" spc="75" dirty="0">
                <a:solidFill>
                  <a:srgbClr val="40349E"/>
                </a:solidFill>
                <a:latin typeface="Tahoma"/>
                <a:cs typeface="Tahoma"/>
              </a:rPr>
              <a:t>basic</a:t>
            </a:r>
            <a:r>
              <a:rPr sz="3300" spc="-25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services.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450"/>
              </a:lnSpc>
            </a:pP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Manual</a:t>
            </a:r>
            <a:r>
              <a:rPr sz="33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75" dirty="0">
                <a:solidFill>
                  <a:srgbClr val="40349E"/>
                </a:solidFill>
                <a:latin typeface="Tahoma"/>
                <a:cs typeface="Tahoma"/>
              </a:rPr>
              <a:t>processes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can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70" dirty="0">
                <a:solidFill>
                  <a:srgbClr val="40349E"/>
                </a:solidFill>
                <a:latin typeface="Tahoma"/>
                <a:cs typeface="Tahoma"/>
              </a:rPr>
              <a:t>lead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delays,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repeated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queries,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25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675"/>
              </a:lnSpc>
            </a:pP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difficulty</a:t>
            </a:r>
            <a:r>
              <a:rPr sz="3300" spc="-2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in</a:t>
            </a:r>
            <a:r>
              <a:rPr sz="33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managing</a:t>
            </a:r>
            <a:r>
              <a:rPr sz="33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3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information.</a:t>
            </a:r>
            <a:endParaRPr sz="3300">
              <a:latin typeface="Tahoma"/>
              <a:cs typeface="Tahoma"/>
            </a:endParaRPr>
          </a:p>
          <a:p>
            <a:pPr marL="12700" marR="283210">
              <a:lnSpc>
                <a:spcPts val="3679"/>
              </a:lnSpc>
              <a:spcBef>
                <a:spcPts val="215"/>
              </a:spcBef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EventEase</a:t>
            </a:r>
            <a:r>
              <a:rPr sz="33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provides</a:t>
            </a:r>
            <a:r>
              <a:rPr sz="33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sz="33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75" dirty="0">
                <a:solidFill>
                  <a:srgbClr val="40349E"/>
                </a:solidFill>
                <a:latin typeface="Tahoma"/>
                <a:cs typeface="Tahoma"/>
              </a:rPr>
              <a:t>mobile</a:t>
            </a:r>
            <a:r>
              <a:rPr sz="33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platform</a:t>
            </a:r>
            <a:r>
              <a:rPr sz="33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that</a:t>
            </a:r>
            <a:r>
              <a:rPr sz="33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85" dirty="0">
                <a:solidFill>
                  <a:srgbClr val="40349E"/>
                </a:solidFill>
                <a:latin typeface="Tahoma"/>
                <a:cs typeface="Tahoma"/>
              </a:rPr>
              <a:t>allows</a:t>
            </a:r>
            <a:r>
              <a:rPr sz="33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sz="33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25" dirty="0">
                <a:solidFill>
                  <a:srgbClr val="40349E"/>
                </a:solidFill>
                <a:latin typeface="Tahoma"/>
                <a:cs typeface="Tahoma"/>
              </a:rPr>
              <a:t>to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perform</a:t>
            </a:r>
            <a:r>
              <a:rPr sz="3300" spc="-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event-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related</a:t>
            </a:r>
            <a:r>
              <a:rPr sz="3300" spc="-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75" dirty="0">
                <a:solidFill>
                  <a:srgbClr val="40349E"/>
                </a:solidFill>
                <a:latin typeface="Tahoma"/>
                <a:cs typeface="Tahoma"/>
              </a:rPr>
              <a:t>tasks</a:t>
            </a:r>
            <a:r>
              <a:rPr sz="3300" spc="-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independently.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450"/>
              </a:lnSpc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3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application</a:t>
            </a:r>
            <a:r>
              <a:rPr sz="33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offers</a:t>
            </a:r>
            <a:r>
              <a:rPr sz="33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sz="33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centralized</a:t>
            </a:r>
            <a:r>
              <a:rPr sz="33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platform</a:t>
            </a:r>
            <a:r>
              <a:rPr sz="33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3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endParaRPr sz="3300">
              <a:latin typeface="Tahoma"/>
              <a:cs typeface="Tahoma"/>
            </a:endParaRPr>
          </a:p>
          <a:p>
            <a:pPr marL="12700" marR="670560">
              <a:lnSpc>
                <a:spcPts val="3679"/>
              </a:lnSpc>
              <a:spcBef>
                <a:spcPts val="210"/>
              </a:spcBef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registration,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schedules,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sessions,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40349E"/>
                </a:solidFill>
                <a:latin typeface="Tahoma"/>
                <a:cs typeface="Tahoma"/>
              </a:rPr>
              <a:t>speaker</a:t>
            </a:r>
            <a:r>
              <a:rPr sz="3300" spc="-15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35" dirty="0">
                <a:solidFill>
                  <a:srgbClr val="40349E"/>
                </a:solidFill>
                <a:latin typeface="Tahoma"/>
                <a:cs typeface="Tahoma"/>
              </a:rPr>
              <a:t>details,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notifications.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450"/>
              </a:lnSpc>
            </a:pP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3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system</a:t>
            </a:r>
            <a:r>
              <a:rPr sz="33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aims</a:t>
            </a:r>
            <a:r>
              <a:rPr sz="33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3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reduce</a:t>
            </a:r>
            <a:r>
              <a:rPr sz="33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3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manual</a:t>
            </a:r>
            <a:r>
              <a:rPr sz="33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40349E"/>
                </a:solidFill>
                <a:latin typeface="Tahoma"/>
                <a:cs typeface="Tahoma"/>
              </a:rPr>
              <a:t>workload</a:t>
            </a:r>
            <a:r>
              <a:rPr sz="33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of</a:t>
            </a:r>
            <a:r>
              <a:rPr sz="33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organizers.</a:t>
            </a:r>
            <a:endParaRPr sz="3300">
              <a:latin typeface="Tahoma"/>
              <a:cs typeface="Tahoma"/>
            </a:endParaRPr>
          </a:p>
          <a:p>
            <a:pPr marL="12700" marR="676275">
              <a:lnSpc>
                <a:spcPts val="3670"/>
              </a:lnSpc>
              <a:spcBef>
                <a:spcPts val="225"/>
              </a:spcBef>
            </a:pPr>
            <a:r>
              <a:rPr sz="3300" spc="65" dirty="0">
                <a:solidFill>
                  <a:srgbClr val="40349E"/>
                </a:solidFill>
                <a:latin typeface="Tahoma"/>
                <a:cs typeface="Tahoma"/>
              </a:rPr>
              <a:t>It</a:t>
            </a:r>
            <a:r>
              <a:rPr sz="33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75" dirty="0">
                <a:solidFill>
                  <a:srgbClr val="40349E"/>
                </a:solidFill>
                <a:latin typeface="Tahoma"/>
                <a:cs typeface="Tahoma"/>
              </a:rPr>
              <a:t>also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improves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300" spc="-22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experience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by</a:t>
            </a:r>
            <a:r>
              <a:rPr sz="33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providing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convenient,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faster,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40349E"/>
                </a:solidFill>
                <a:latin typeface="Tahoma"/>
                <a:cs typeface="Tahoma"/>
              </a:rPr>
              <a:t>self-</a:t>
            </a:r>
            <a:r>
              <a:rPr sz="3300" spc="55" dirty="0">
                <a:solidFill>
                  <a:srgbClr val="40349E"/>
                </a:solidFill>
                <a:latin typeface="Tahoma"/>
                <a:cs typeface="Tahoma"/>
              </a:rPr>
              <a:t>service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40349E"/>
                </a:solidFill>
                <a:latin typeface="Tahoma"/>
                <a:cs typeface="Tahoma"/>
              </a:rPr>
              <a:t>access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300" spc="-15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40349E"/>
                </a:solidFill>
                <a:latin typeface="Tahoma"/>
                <a:cs typeface="Tahoma"/>
              </a:rPr>
              <a:t>services.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93987" y="9277350"/>
            <a:ext cx="9610090" cy="0"/>
          </a:xfrm>
          <a:custGeom>
            <a:avLst/>
            <a:gdLst/>
            <a:ahLst/>
            <a:cxnLst/>
            <a:rect l="l" t="t" r="r" b="b"/>
            <a:pathLst>
              <a:path w="9610090">
                <a:moveTo>
                  <a:pt x="0" y="0"/>
                </a:moveTo>
                <a:lnTo>
                  <a:pt x="9609888" y="0"/>
                </a:lnTo>
              </a:path>
            </a:pathLst>
          </a:custGeom>
          <a:ln w="38099">
            <a:solidFill>
              <a:srgbClr val="4034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62635">
              <a:lnSpc>
                <a:spcPct val="100000"/>
              </a:lnSpc>
              <a:spcBef>
                <a:spcPts val="125"/>
              </a:spcBef>
            </a:pPr>
            <a:r>
              <a:rPr spc="615" dirty="0"/>
              <a:t>ALGORITHMS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367" y="3368884"/>
            <a:ext cx="152400" cy="152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367" y="3845133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367" y="4797633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367" y="5750133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367" y="6226383"/>
            <a:ext cx="152400" cy="1523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058696" y="3153682"/>
            <a:ext cx="13531850" cy="38766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176530">
              <a:lnSpc>
                <a:spcPts val="3750"/>
              </a:lnSpc>
              <a:spcBef>
                <a:spcPts val="495"/>
              </a:spcBef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Search</a:t>
            </a:r>
            <a:r>
              <a:rPr sz="3400" spc="-1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&amp;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Retrieval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Find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events,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sessions,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venues,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3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speakers.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3400" spc="-17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Processing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0" dirty="0">
                <a:solidFill>
                  <a:srgbClr val="40349E"/>
                </a:solidFill>
                <a:latin typeface="Tahoma"/>
                <a:cs typeface="Tahoma"/>
              </a:rPr>
              <a:t>Check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availability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store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0" dirty="0">
                <a:solidFill>
                  <a:srgbClr val="40349E"/>
                </a:solidFill>
                <a:latin typeface="Tahoma"/>
                <a:cs typeface="Tahoma"/>
              </a:rPr>
              <a:t>attendee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registration.</a:t>
            </a:r>
            <a:endParaRPr sz="3400">
              <a:latin typeface="Tahoma"/>
              <a:cs typeface="Tahoma"/>
            </a:endParaRPr>
          </a:p>
          <a:p>
            <a:pPr marL="12700" marR="281305">
              <a:lnSpc>
                <a:spcPts val="3750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Sorting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&amp;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Filtering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Display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events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based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on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date,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category,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or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other </a:t>
            </a:r>
            <a:r>
              <a:rPr sz="3400" spc="35" dirty="0">
                <a:solidFill>
                  <a:srgbClr val="40349E"/>
                </a:solidFill>
                <a:latin typeface="Tahoma"/>
                <a:cs typeface="Tahoma"/>
              </a:rPr>
              <a:t>conditions.</a:t>
            </a:r>
            <a:endParaRPr sz="3400">
              <a:latin typeface="Tahoma"/>
              <a:cs typeface="Tahoma"/>
            </a:endParaRPr>
          </a:p>
          <a:p>
            <a:pPr marL="12700">
              <a:lnSpc>
                <a:spcPts val="3515"/>
              </a:lnSpc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SQL</a:t>
            </a:r>
            <a:r>
              <a:rPr sz="34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10" dirty="0">
                <a:solidFill>
                  <a:srgbClr val="40349E"/>
                </a:solidFill>
                <a:latin typeface="Tahoma"/>
                <a:cs typeface="Tahoma"/>
              </a:rPr>
              <a:t>Joins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Retrieve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related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data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from</a:t>
            </a:r>
            <a:r>
              <a:rPr sz="3400" spc="-1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multiple</a:t>
            </a:r>
            <a:r>
              <a:rPr sz="3400" spc="-1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0" dirty="0">
                <a:solidFill>
                  <a:srgbClr val="40349E"/>
                </a:solidFill>
                <a:latin typeface="Tahoma"/>
                <a:cs typeface="Tahoma"/>
              </a:rPr>
              <a:t>tables.</a:t>
            </a:r>
            <a:endParaRPr sz="3400">
              <a:latin typeface="Tahoma"/>
              <a:cs typeface="Tahoma"/>
            </a:endParaRPr>
          </a:p>
          <a:p>
            <a:pPr marL="12700" marR="5080">
              <a:lnSpc>
                <a:spcPts val="3750"/>
              </a:lnSpc>
              <a:spcBef>
                <a:spcPts val="234"/>
              </a:spcBef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Transaction</a:t>
            </a:r>
            <a:r>
              <a:rPr sz="3400" spc="-8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Processing</a:t>
            </a:r>
            <a:r>
              <a:rPr sz="3400" spc="-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sz="3400" spc="-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Maintain</a:t>
            </a:r>
            <a:r>
              <a:rPr sz="3400" spc="-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consistency</a:t>
            </a:r>
            <a:r>
              <a:rPr sz="3400" spc="-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during</a:t>
            </a:r>
            <a:r>
              <a:rPr sz="3400" spc="-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3400" spc="-8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related</a:t>
            </a:r>
            <a:r>
              <a:rPr sz="3400" spc="-26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operations.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15" dirty="0"/>
              <a:t>METHODOLOGY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2606" y="2106441"/>
            <a:ext cx="152400" cy="152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606" y="3058941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606" y="4011441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606" y="4963941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606" y="5916441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606" y="6868941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606" y="7821441"/>
            <a:ext cx="152400" cy="15239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210935" y="1891240"/>
            <a:ext cx="13550265" cy="673417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2355215" indent="476250">
              <a:lnSpc>
                <a:spcPts val="3750"/>
              </a:lnSpc>
              <a:spcBef>
                <a:spcPts val="495"/>
              </a:spcBef>
              <a:buAutoNum type="arabicPeriod"/>
              <a:tabLst>
                <a:tab pos="488950" algn="l"/>
              </a:tabLst>
            </a:pP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Requirement</a:t>
            </a:r>
            <a:r>
              <a:rPr sz="3400" spc="-2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Analysis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10" dirty="0">
                <a:solidFill>
                  <a:srgbClr val="40349E"/>
                </a:solidFill>
                <a:latin typeface="Tahoma"/>
                <a:cs typeface="Tahoma"/>
              </a:rPr>
              <a:t>-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Identify</a:t>
            </a:r>
            <a:r>
              <a:rPr sz="3400" spc="-24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organizer requirements.</a:t>
            </a:r>
            <a:endParaRPr sz="3400">
              <a:latin typeface="Tahoma"/>
              <a:cs typeface="Tahoma"/>
            </a:endParaRPr>
          </a:p>
          <a:p>
            <a:pPr marL="12700" marR="1585595" indent="476250">
              <a:lnSpc>
                <a:spcPts val="3750"/>
              </a:lnSpc>
              <a:buAutoNum type="arabicPeriod"/>
              <a:tabLst>
                <a:tab pos="488950" algn="l"/>
              </a:tabLst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Database</a:t>
            </a:r>
            <a:r>
              <a:rPr sz="3400" spc="-114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Design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10" dirty="0">
                <a:solidFill>
                  <a:srgbClr val="40349E"/>
                </a:solidFill>
                <a:latin typeface="Tahoma"/>
                <a:cs typeface="Tahoma"/>
              </a:rPr>
              <a:t>-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Identify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entities,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relationships,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keys,</a:t>
            </a:r>
            <a:r>
              <a:rPr sz="3400" spc="-1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25" dirty="0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constraints.</a:t>
            </a:r>
            <a:endParaRPr sz="3400">
              <a:latin typeface="Tahoma"/>
              <a:cs typeface="Tahoma"/>
            </a:endParaRPr>
          </a:p>
          <a:p>
            <a:pPr marL="12700" marR="5080" indent="476250">
              <a:lnSpc>
                <a:spcPts val="3750"/>
              </a:lnSpc>
              <a:buAutoNum type="arabicPeriod"/>
              <a:tabLst>
                <a:tab pos="488950" algn="l"/>
              </a:tabLst>
            </a:pP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Normalization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10" dirty="0">
                <a:solidFill>
                  <a:srgbClr val="40349E"/>
                </a:solidFill>
                <a:latin typeface="Tahoma"/>
                <a:cs typeface="Tahoma"/>
              </a:rPr>
              <a:t>-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Organize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tables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reduce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redundancy</a:t>
            </a:r>
            <a:r>
              <a:rPr sz="3400" spc="-17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6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maintain </a:t>
            </a:r>
            <a:r>
              <a:rPr sz="3400" spc="40" dirty="0">
                <a:solidFill>
                  <a:srgbClr val="40349E"/>
                </a:solidFill>
                <a:latin typeface="Tahoma"/>
                <a:cs typeface="Tahoma"/>
              </a:rPr>
              <a:t>consistency.</a:t>
            </a:r>
            <a:endParaRPr sz="3400">
              <a:latin typeface="Tahoma"/>
              <a:cs typeface="Tahoma"/>
            </a:endParaRPr>
          </a:p>
          <a:p>
            <a:pPr marL="12700" marR="901700" indent="476250">
              <a:lnSpc>
                <a:spcPts val="3750"/>
              </a:lnSpc>
              <a:buAutoNum type="arabicPeriod"/>
              <a:tabLst>
                <a:tab pos="488950" algn="l"/>
              </a:tabLst>
            </a:pPr>
            <a:r>
              <a:rPr sz="3400" spc="85" dirty="0">
                <a:solidFill>
                  <a:srgbClr val="40349E"/>
                </a:solidFill>
                <a:latin typeface="Tahoma"/>
                <a:cs typeface="Tahoma"/>
              </a:rPr>
              <a:t>Backend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Development</a:t>
            </a:r>
            <a:r>
              <a:rPr sz="34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10" dirty="0">
                <a:solidFill>
                  <a:srgbClr val="40349E"/>
                </a:solidFill>
                <a:latin typeface="Tahoma"/>
                <a:cs typeface="Tahoma"/>
              </a:rPr>
              <a:t>-</a:t>
            </a:r>
            <a:r>
              <a:rPr sz="34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Develop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REST</a:t>
            </a:r>
            <a:r>
              <a:rPr sz="34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5" dirty="0">
                <a:solidFill>
                  <a:srgbClr val="40349E"/>
                </a:solidFill>
                <a:latin typeface="Tahoma"/>
                <a:cs typeface="Tahoma"/>
              </a:rPr>
              <a:t>APIs</a:t>
            </a:r>
            <a:r>
              <a:rPr sz="3400" spc="-23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sz="3400" spc="-24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authentication,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registration,</a:t>
            </a:r>
            <a:r>
              <a:rPr sz="34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database</a:t>
            </a:r>
            <a:r>
              <a:rPr sz="3400" spc="-12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operations.</a:t>
            </a:r>
            <a:endParaRPr sz="3400">
              <a:latin typeface="Tahoma"/>
              <a:cs typeface="Tahoma"/>
            </a:endParaRPr>
          </a:p>
          <a:p>
            <a:pPr marL="12700" marR="188595" indent="476250">
              <a:lnSpc>
                <a:spcPts val="3750"/>
              </a:lnSpc>
              <a:buAutoNum type="arabicPeriod"/>
              <a:tabLst>
                <a:tab pos="488950" algn="l"/>
              </a:tabLst>
            </a:pPr>
            <a:r>
              <a:rPr sz="3400" spc="85" dirty="0">
                <a:solidFill>
                  <a:srgbClr val="40349E"/>
                </a:solidFill>
                <a:latin typeface="Tahoma"/>
                <a:cs typeface="Tahoma"/>
              </a:rPr>
              <a:t>Mobile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0" dirty="0">
                <a:solidFill>
                  <a:srgbClr val="40349E"/>
                </a:solidFill>
                <a:latin typeface="Tahoma"/>
                <a:cs typeface="Tahoma"/>
              </a:rPr>
              <a:t>Application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10" dirty="0">
                <a:solidFill>
                  <a:srgbClr val="40349E"/>
                </a:solidFill>
                <a:latin typeface="Tahoma"/>
                <a:cs typeface="Tahoma"/>
              </a:rPr>
              <a:t>-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00" dirty="0">
                <a:solidFill>
                  <a:srgbClr val="40349E"/>
                </a:solidFill>
                <a:latin typeface="Tahoma"/>
                <a:cs typeface="Tahoma"/>
              </a:rPr>
              <a:t>Build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0" dirty="0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90" dirty="0">
                <a:solidFill>
                  <a:srgbClr val="40349E"/>
                </a:solidFill>
                <a:latin typeface="Tahoma"/>
                <a:cs typeface="Tahoma"/>
              </a:rPr>
              <a:t>self-</a:t>
            </a:r>
            <a:r>
              <a:rPr sz="3400" spc="60" dirty="0">
                <a:solidFill>
                  <a:srgbClr val="40349E"/>
                </a:solidFill>
                <a:latin typeface="Tahoma"/>
                <a:cs typeface="Tahoma"/>
              </a:rPr>
              <a:t>service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interface</a:t>
            </a:r>
            <a:r>
              <a:rPr sz="3400" spc="-19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using Flutter.</a:t>
            </a:r>
            <a:endParaRPr sz="3400">
              <a:latin typeface="Tahoma"/>
              <a:cs typeface="Tahoma"/>
            </a:endParaRPr>
          </a:p>
          <a:p>
            <a:pPr marL="12700" marR="688975" indent="476250">
              <a:lnSpc>
                <a:spcPts val="3750"/>
              </a:lnSpc>
              <a:buAutoNum type="arabicPeriod"/>
              <a:tabLst>
                <a:tab pos="488950" algn="l"/>
              </a:tabLst>
            </a:pP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Testing</a:t>
            </a:r>
            <a:r>
              <a:rPr sz="3400" spc="-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&amp;</a:t>
            </a:r>
            <a:r>
              <a:rPr sz="3400" spc="-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Integration</a:t>
            </a:r>
            <a:r>
              <a:rPr sz="3400" spc="-1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10" dirty="0">
                <a:solidFill>
                  <a:srgbClr val="40349E"/>
                </a:solidFill>
                <a:latin typeface="Tahoma"/>
                <a:cs typeface="Tahoma"/>
              </a:rPr>
              <a:t>-</a:t>
            </a:r>
            <a:r>
              <a:rPr sz="3400" spc="-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Test</a:t>
            </a:r>
            <a:r>
              <a:rPr sz="3400" spc="-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SQL</a:t>
            </a:r>
            <a:r>
              <a:rPr sz="3400" spc="-1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queries,</a:t>
            </a:r>
            <a:r>
              <a:rPr sz="3400" spc="-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75" dirty="0">
                <a:solidFill>
                  <a:srgbClr val="40349E"/>
                </a:solidFill>
                <a:latin typeface="Tahoma"/>
                <a:cs typeface="Tahoma"/>
              </a:rPr>
              <a:t>APIs,</a:t>
            </a:r>
            <a:r>
              <a:rPr sz="3400" spc="-10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sz="3400" spc="-1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flow,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sz="3400" spc="-20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55" dirty="0">
                <a:solidFill>
                  <a:srgbClr val="40349E"/>
                </a:solidFill>
                <a:latin typeface="Tahoma"/>
                <a:cs typeface="Tahoma"/>
              </a:rPr>
              <a:t>database</a:t>
            </a:r>
            <a:r>
              <a:rPr sz="3400" spc="-19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operations.</a:t>
            </a:r>
            <a:endParaRPr sz="3400">
              <a:latin typeface="Tahoma"/>
              <a:cs typeface="Tahoma"/>
            </a:endParaRPr>
          </a:p>
          <a:p>
            <a:pPr marL="12700" marR="581025" indent="476250">
              <a:lnSpc>
                <a:spcPts val="3750"/>
              </a:lnSpc>
              <a:buAutoNum type="arabicPeriod"/>
              <a:tabLst>
                <a:tab pos="488950" algn="l"/>
              </a:tabLst>
            </a:pP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Final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Integration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10" dirty="0">
                <a:solidFill>
                  <a:srgbClr val="40349E"/>
                </a:solidFill>
                <a:latin typeface="Tahoma"/>
                <a:cs typeface="Tahoma"/>
              </a:rPr>
              <a:t>-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45" dirty="0">
                <a:solidFill>
                  <a:srgbClr val="40349E"/>
                </a:solidFill>
                <a:latin typeface="Tahoma"/>
                <a:cs typeface="Tahoma"/>
              </a:rPr>
              <a:t>Connect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80" dirty="0">
                <a:solidFill>
                  <a:srgbClr val="40349E"/>
                </a:solidFill>
                <a:latin typeface="Tahoma"/>
                <a:cs typeface="Tahoma"/>
              </a:rPr>
              <a:t>mobile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65" dirty="0">
                <a:solidFill>
                  <a:srgbClr val="40349E"/>
                </a:solidFill>
                <a:latin typeface="Tahoma"/>
                <a:cs typeface="Tahoma"/>
              </a:rPr>
              <a:t>app</a:t>
            </a:r>
            <a:r>
              <a:rPr sz="3400" spc="-210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650" dirty="0">
                <a:solidFill>
                  <a:srgbClr val="40349E"/>
                </a:solidFill>
                <a:latin typeface="Tahoma"/>
                <a:cs typeface="Tahoma"/>
              </a:rPr>
              <a:t>→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dirty="0">
                <a:solidFill>
                  <a:srgbClr val="40349E"/>
                </a:solidFill>
                <a:latin typeface="Tahoma"/>
                <a:cs typeface="Tahoma"/>
              </a:rPr>
              <a:t>REST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120" dirty="0">
                <a:solidFill>
                  <a:srgbClr val="40349E"/>
                </a:solidFill>
                <a:latin typeface="Tahoma"/>
                <a:cs typeface="Tahoma"/>
              </a:rPr>
              <a:t>API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650" dirty="0">
                <a:solidFill>
                  <a:srgbClr val="40349E"/>
                </a:solidFill>
                <a:latin typeface="Tahoma"/>
                <a:cs typeface="Tahoma"/>
              </a:rPr>
              <a:t>→</a:t>
            </a:r>
            <a:r>
              <a:rPr sz="3400" spc="-215" dirty="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sz="3400" spc="-10" dirty="0">
                <a:solidFill>
                  <a:srgbClr val="40349E"/>
                </a:solidFill>
                <a:latin typeface="Tahoma"/>
                <a:cs typeface="Tahoma"/>
              </a:rPr>
              <a:t>MySQL database.</a:t>
            </a:r>
            <a:endParaRPr sz="3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78355">
              <a:lnSpc>
                <a:spcPct val="100000"/>
              </a:lnSpc>
              <a:spcBef>
                <a:spcPts val="125"/>
              </a:spcBef>
            </a:pPr>
            <a:r>
              <a:rPr spc="560" dirty="0"/>
              <a:t>DATASET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2606" y="2106441"/>
            <a:ext cx="152400" cy="152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2606" y="2582691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606" y="3058941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2606" y="3535191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2606" y="4487691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606" y="4963941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606" y="5916441"/>
            <a:ext cx="152400" cy="1523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606" y="6868941"/>
            <a:ext cx="152400" cy="152399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2210935" y="1891240"/>
            <a:ext cx="13557885" cy="8822287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34915">
              <a:lnSpc>
                <a:spcPts val="3750"/>
              </a:lnSpc>
              <a:spcBef>
                <a:spcPts val="495"/>
              </a:spcBef>
            </a:pPr>
            <a:r>
              <a:rPr dirty="0"/>
              <a:t>Dataset:</a:t>
            </a:r>
            <a:r>
              <a:rPr spc="-195" dirty="0"/>
              <a:t> </a:t>
            </a:r>
            <a:r>
              <a:rPr spc="60" dirty="0"/>
              <a:t>PheedLoop</a:t>
            </a:r>
            <a:r>
              <a:rPr spc="-195" dirty="0"/>
              <a:t> </a:t>
            </a:r>
            <a:r>
              <a:rPr dirty="0"/>
              <a:t>Event</a:t>
            </a:r>
            <a:r>
              <a:rPr spc="-195" dirty="0"/>
              <a:t> </a:t>
            </a:r>
            <a:r>
              <a:rPr dirty="0"/>
              <a:t>Data</a:t>
            </a:r>
            <a:r>
              <a:rPr spc="-190" dirty="0"/>
              <a:t> </a:t>
            </a:r>
            <a:r>
              <a:rPr dirty="0"/>
              <a:t>Lab</a:t>
            </a:r>
            <a:r>
              <a:rPr spc="-195" dirty="0"/>
              <a:t> </a:t>
            </a:r>
            <a:r>
              <a:rPr spc="-10" dirty="0"/>
              <a:t>Dataset </a:t>
            </a:r>
            <a:r>
              <a:rPr dirty="0"/>
              <a:t>Source:</a:t>
            </a:r>
            <a:r>
              <a:rPr spc="-190" dirty="0"/>
              <a:t> </a:t>
            </a:r>
            <a:r>
              <a:rPr spc="50" dirty="0"/>
              <a:t>PheedLoop</a:t>
            </a:r>
          </a:p>
          <a:p>
            <a:pPr marL="12700" marR="1658620">
              <a:lnSpc>
                <a:spcPts val="3750"/>
              </a:lnSpc>
            </a:pPr>
            <a:r>
              <a:rPr spc="-35" dirty="0"/>
              <a:t>Type:</a:t>
            </a:r>
            <a:r>
              <a:rPr spc="-100" dirty="0"/>
              <a:t> </a:t>
            </a:r>
            <a:r>
              <a:rPr spc="70" dirty="0"/>
              <a:t>Real-</a:t>
            </a:r>
            <a:r>
              <a:rPr dirty="0"/>
              <a:t>world,</a:t>
            </a:r>
            <a:r>
              <a:rPr spc="-95" dirty="0"/>
              <a:t> </a:t>
            </a:r>
            <a:r>
              <a:rPr dirty="0"/>
              <a:t>aggregated</a:t>
            </a:r>
            <a:r>
              <a:rPr spc="-100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anonymized</a:t>
            </a:r>
            <a:r>
              <a:rPr spc="-100" dirty="0"/>
              <a:t> </a:t>
            </a:r>
            <a:r>
              <a:rPr dirty="0"/>
              <a:t>event</a:t>
            </a:r>
            <a:r>
              <a:rPr spc="-95" dirty="0"/>
              <a:t> </a:t>
            </a:r>
            <a:r>
              <a:rPr spc="-20" dirty="0"/>
              <a:t>data Coverage:</a:t>
            </a:r>
            <a:r>
              <a:rPr spc="-175" dirty="0"/>
              <a:t> </a:t>
            </a:r>
            <a:r>
              <a:rPr spc="180" dirty="0"/>
              <a:t>411</a:t>
            </a:r>
            <a:r>
              <a:rPr spc="-175" dirty="0"/>
              <a:t> </a:t>
            </a:r>
            <a:r>
              <a:rPr spc="55" dirty="0"/>
              <a:t>live</a:t>
            </a:r>
            <a:r>
              <a:rPr spc="-170" dirty="0"/>
              <a:t> </a:t>
            </a:r>
            <a:r>
              <a:rPr dirty="0"/>
              <a:t>events</a:t>
            </a:r>
            <a:r>
              <a:rPr spc="-175" dirty="0"/>
              <a:t> </a:t>
            </a:r>
            <a:r>
              <a:rPr dirty="0"/>
              <a:t>and</a:t>
            </a:r>
            <a:r>
              <a:rPr spc="-170" dirty="0"/>
              <a:t> </a:t>
            </a:r>
            <a:r>
              <a:rPr spc="130" dirty="0"/>
              <a:t>14,161</a:t>
            </a:r>
            <a:r>
              <a:rPr spc="-175" dirty="0"/>
              <a:t> </a:t>
            </a:r>
            <a:r>
              <a:rPr spc="85" dirty="0"/>
              <a:t>sessions</a:t>
            </a:r>
            <a:r>
              <a:rPr spc="-170" dirty="0"/>
              <a:t> </a:t>
            </a:r>
            <a:r>
              <a:rPr dirty="0"/>
              <a:t>with</a:t>
            </a:r>
            <a:r>
              <a:rPr spc="-175" dirty="0"/>
              <a:t> </a:t>
            </a:r>
            <a:r>
              <a:rPr spc="50" dirty="0"/>
              <a:t>recorded </a:t>
            </a:r>
            <a:r>
              <a:rPr spc="35" dirty="0"/>
              <a:t>attendance</a:t>
            </a:r>
          </a:p>
          <a:p>
            <a:pPr marL="12700">
              <a:lnSpc>
                <a:spcPts val="3515"/>
              </a:lnSpc>
            </a:pPr>
            <a:r>
              <a:rPr dirty="0"/>
              <a:t>Records:</a:t>
            </a:r>
            <a:r>
              <a:rPr spc="-155" dirty="0"/>
              <a:t> </a:t>
            </a:r>
            <a:r>
              <a:rPr spc="135" dirty="0"/>
              <a:t>967,701</a:t>
            </a:r>
            <a:r>
              <a:rPr spc="-155" dirty="0"/>
              <a:t> </a:t>
            </a:r>
            <a:r>
              <a:rPr spc="80" dirty="0"/>
              <a:t>session</a:t>
            </a:r>
            <a:r>
              <a:rPr spc="-155" dirty="0"/>
              <a:t> </a:t>
            </a:r>
            <a:r>
              <a:rPr spc="85" dirty="0"/>
              <a:t>check-</a:t>
            </a:r>
            <a:r>
              <a:rPr spc="45" dirty="0"/>
              <a:t>ins</a:t>
            </a:r>
          </a:p>
          <a:p>
            <a:pPr marL="12700" marR="5080">
              <a:lnSpc>
                <a:spcPts val="3750"/>
              </a:lnSpc>
              <a:spcBef>
                <a:spcPts val="234"/>
              </a:spcBef>
            </a:pPr>
            <a:r>
              <a:rPr spc="65" dirty="0"/>
              <a:t>Key</a:t>
            </a:r>
            <a:r>
              <a:rPr spc="-165" dirty="0"/>
              <a:t> </a:t>
            </a:r>
            <a:r>
              <a:rPr spc="-45" dirty="0"/>
              <a:t>Data:</a:t>
            </a:r>
            <a:r>
              <a:rPr spc="-165" dirty="0"/>
              <a:t> </a:t>
            </a:r>
            <a:r>
              <a:rPr dirty="0"/>
              <a:t>Events,</a:t>
            </a:r>
            <a:r>
              <a:rPr spc="-165" dirty="0"/>
              <a:t> </a:t>
            </a:r>
            <a:r>
              <a:rPr spc="65" dirty="0"/>
              <a:t>sessions,</a:t>
            </a:r>
            <a:r>
              <a:rPr spc="-165" dirty="0"/>
              <a:t> </a:t>
            </a:r>
            <a:r>
              <a:rPr dirty="0"/>
              <a:t>attendees,</a:t>
            </a:r>
            <a:r>
              <a:rPr spc="-165" dirty="0"/>
              <a:t> </a:t>
            </a:r>
            <a:r>
              <a:rPr spc="80" dirty="0"/>
              <a:t>session</a:t>
            </a:r>
            <a:r>
              <a:rPr spc="-165" dirty="0"/>
              <a:t> </a:t>
            </a:r>
            <a:r>
              <a:rPr spc="45" dirty="0"/>
              <a:t>attendance</a:t>
            </a:r>
            <a:r>
              <a:rPr spc="-165" dirty="0"/>
              <a:t> </a:t>
            </a:r>
            <a:r>
              <a:rPr dirty="0"/>
              <a:t>and</a:t>
            </a:r>
            <a:r>
              <a:rPr spc="-165" dirty="0"/>
              <a:t> </a:t>
            </a:r>
            <a:r>
              <a:rPr spc="75" dirty="0"/>
              <a:t>check-</a:t>
            </a:r>
            <a:r>
              <a:rPr spc="45" dirty="0"/>
              <a:t>ins</a:t>
            </a:r>
          </a:p>
          <a:p>
            <a:pPr marL="12700" marR="1781175">
              <a:lnSpc>
                <a:spcPts val="3750"/>
              </a:lnSpc>
            </a:pPr>
            <a:r>
              <a:rPr dirty="0"/>
              <a:t>Purpose:</a:t>
            </a:r>
            <a:r>
              <a:rPr spc="-170" dirty="0"/>
              <a:t> </a:t>
            </a:r>
            <a:r>
              <a:rPr spc="85" dirty="0"/>
              <a:t>Used</a:t>
            </a:r>
            <a:r>
              <a:rPr spc="-165" dirty="0"/>
              <a:t> </a:t>
            </a:r>
            <a:r>
              <a:rPr dirty="0"/>
              <a:t>to</a:t>
            </a:r>
            <a:r>
              <a:rPr spc="-165" dirty="0"/>
              <a:t> </a:t>
            </a:r>
            <a:r>
              <a:rPr spc="45" dirty="0"/>
              <a:t>understand</a:t>
            </a:r>
            <a:r>
              <a:rPr spc="-165" dirty="0"/>
              <a:t> </a:t>
            </a:r>
            <a:r>
              <a:rPr dirty="0"/>
              <a:t>event</a:t>
            </a:r>
            <a:r>
              <a:rPr spc="-170" dirty="0"/>
              <a:t> </a:t>
            </a:r>
            <a:r>
              <a:rPr spc="50" dirty="0"/>
              <a:t>participation</a:t>
            </a:r>
            <a:r>
              <a:rPr spc="-165" dirty="0"/>
              <a:t> </a:t>
            </a:r>
            <a:r>
              <a:rPr dirty="0"/>
              <a:t>and</a:t>
            </a:r>
            <a:r>
              <a:rPr spc="-165" dirty="0"/>
              <a:t> </a:t>
            </a:r>
            <a:r>
              <a:rPr spc="70" dirty="0"/>
              <a:t>session </a:t>
            </a:r>
            <a:r>
              <a:rPr spc="45" dirty="0"/>
              <a:t>attendance</a:t>
            </a:r>
            <a:r>
              <a:rPr spc="-145" dirty="0"/>
              <a:t> </a:t>
            </a:r>
            <a:r>
              <a:rPr dirty="0"/>
              <a:t>and</a:t>
            </a:r>
            <a:r>
              <a:rPr spc="-145" dirty="0"/>
              <a:t> </a:t>
            </a:r>
            <a:r>
              <a:rPr spc="55" dirty="0"/>
              <a:t>support</a:t>
            </a:r>
            <a:r>
              <a:rPr spc="-145" dirty="0"/>
              <a:t> </a:t>
            </a:r>
            <a:r>
              <a:rPr dirty="0"/>
              <a:t>the</a:t>
            </a:r>
            <a:r>
              <a:rPr spc="-145" dirty="0"/>
              <a:t> </a:t>
            </a:r>
            <a:r>
              <a:rPr dirty="0"/>
              <a:t>EventEase</a:t>
            </a:r>
            <a:r>
              <a:rPr spc="-145" dirty="0"/>
              <a:t> </a:t>
            </a:r>
            <a:r>
              <a:rPr spc="55" dirty="0"/>
              <a:t>database</a:t>
            </a:r>
            <a:r>
              <a:rPr spc="-145" dirty="0"/>
              <a:t> </a:t>
            </a:r>
            <a:r>
              <a:rPr spc="-10" dirty="0"/>
              <a:t>design.</a:t>
            </a:r>
          </a:p>
          <a:p>
            <a:pPr marL="12700" marR="276860">
              <a:lnSpc>
                <a:spcPts val="3750"/>
              </a:lnSpc>
            </a:pPr>
            <a:r>
              <a:rPr dirty="0"/>
              <a:t>The</a:t>
            </a:r>
            <a:r>
              <a:rPr spc="-229" dirty="0"/>
              <a:t> </a:t>
            </a:r>
            <a:r>
              <a:rPr spc="65" dirty="0"/>
              <a:t>real-world</a:t>
            </a:r>
            <a:r>
              <a:rPr spc="-225" dirty="0"/>
              <a:t> </a:t>
            </a:r>
            <a:r>
              <a:rPr dirty="0"/>
              <a:t>event</a:t>
            </a:r>
            <a:r>
              <a:rPr spc="-225" dirty="0"/>
              <a:t> </a:t>
            </a:r>
            <a:r>
              <a:rPr spc="55" dirty="0"/>
              <a:t>dataset</a:t>
            </a:r>
            <a:r>
              <a:rPr spc="-225" dirty="0"/>
              <a:t> </a:t>
            </a:r>
            <a:r>
              <a:rPr spc="100" dirty="0"/>
              <a:t>is</a:t>
            </a:r>
            <a:r>
              <a:rPr spc="-225" dirty="0"/>
              <a:t> </a:t>
            </a:r>
            <a:r>
              <a:rPr spc="75" dirty="0"/>
              <a:t>used</a:t>
            </a:r>
            <a:r>
              <a:rPr spc="-225" dirty="0"/>
              <a:t> </a:t>
            </a:r>
            <a:r>
              <a:rPr spc="70" dirty="0"/>
              <a:t>as</a:t>
            </a:r>
            <a:r>
              <a:rPr spc="-225" dirty="0"/>
              <a:t> </a:t>
            </a:r>
            <a:r>
              <a:rPr dirty="0"/>
              <a:t>the</a:t>
            </a:r>
            <a:r>
              <a:rPr spc="-225" dirty="0"/>
              <a:t> </a:t>
            </a:r>
            <a:r>
              <a:rPr spc="75" dirty="0"/>
              <a:t>base</a:t>
            </a:r>
            <a:r>
              <a:rPr spc="-225" dirty="0"/>
              <a:t> </a:t>
            </a:r>
            <a:r>
              <a:rPr spc="45" dirty="0"/>
              <a:t>reference</a:t>
            </a:r>
            <a:r>
              <a:rPr spc="-225" dirty="0"/>
              <a:t> </a:t>
            </a:r>
            <a:r>
              <a:rPr dirty="0"/>
              <a:t>for</a:t>
            </a:r>
            <a:r>
              <a:rPr spc="-225" dirty="0"/>
              <a:t> </a:t>
            </a:r>
            <a:r>
              <a:rPr spc="-10" dirty="0"/>
              <a:t>event, </a:t>
            </a:r>
            <a:r>
              <a:rPr spc="55" dirty="0"/>
              <a:t>session,</a:t>
            </a:r>
            <a:r>
              <a:rPr spc="-225" dirty="0"/>
              <a:t> </a:t>
            </a:r>
            <a:r>
              <a:rPr dirty="0"/>
              <a:t>and</a:t>
            </a:r>
            <a:r>
              <a:rPr spc="-220" dirty="0"/>
              <a:t> </a:t>
            </a:r>
            <a:r>
              <a:rPr spc="45" dirty="0"/>
              <a:t>attendance</a:t>
            </a:r>
            <a:r>
              <a:rPr spc="-225" dirty="0"/>
              <a:t> </a:t>
            </a:r>
            <a:r>
              <a:rPr dirty="0"/>
              <a:t>data,</a:t>
            </a:r>
            <a:r>
              <a:rPr spc="-220" dirty="0"/>
              <a:t> </a:t>
            </a:r>
            <a:r>
              <a:rPr spc="70" dirty="0"/>
              <a:t>while</a:t>
            </a:r>
            <a:r>
              <a:rPr spc="-225" dirty="0"/>
              <a:t> </a:t>
            </a:r>
            <a:r>
              <a:rPr spc="65" dirty="0"/>
              <a:t>application-</a:t>
            </a:r>
            <a:r>
              <a:rPr spc="80" dirty="0"/>
              <a:t>specific</a:t>
            </a:r>
            <a:r>
              <a:rPr spc="-220" dirty="0"/>
              <a:t> </a:t>
            </a:r>
            <a:r>
              <a:rPr spc="60" dirty="0"/>
              <a:t>entities</a:t>
            </a:r>
            <a:r>
              <a:rPr spc="-225" dirty="0"/>
              <a:t> </a:t>
            </a:r>
            <a:r>
              <a:rPr spc="-25" dirty="0"/>
              <a:t>are </a:t>
            </a:r>
            <a:r>
              <a:rPr spc="50" dirty="0"/>
              <a:t>designed</a:t>
            </a:r>
            <a:r>
              <a:rPr spc="-215" dirty="0"/>
              <a:t> </a:t>
            </a:r>
            <a:r>
              <a:rPr spc="70" dirty="0"/>
              <a:t>as</a:t>
            </a:r>
            <a:r>
              <a:rPr spc="-215" dirty="0"/>
              <a:t> </a:t>
            </a:r>
            <a:r>
              <a:rPr dirty="0"/>
              <a:t>part</a:t>
            </a:r>
            <a:r>
              <a:rPr spc="-210" dirty="0"/>
              <a:t> </a:t>
            </a:r>
            <a:r>
              <a:rPr dirty="0"/>
              <a:t>of</a:t>
            </a:r>
            <a:r>
              <a:rPr spc="-215" dirty="0"/>
              <a:t> </a:t>
            </a:r>
            <a:r>
              <a:rPr dirty="0"/>
              <a:t>our</a:t>
            </a:r>
            <a:r>
              <a:rPr spc="-215" dirty="0"/>
              <a:t> </a:t>
            </a:r>
            <a:r>
              <a:rPr spc="55" dirty="0"/>
              <a:t>database</a:t>
            </a:r>
            <a:r>
              <a:rPr spc="-210" dirty="0"/>
              <a:t> </a:t>
            </a:r>
            <a:r>
              <a:rPr spc="40" dirty="0"/>
              <a:t>model.</a:t>
            </a:r>
            <a:endParaRPr lang="en-US" spc="40" dirty="0"/>
          </a:p>
          <a:p>
            <a:pPr marL="12700" marR="276860">
              <a:lnSpc>
                <a:spcPts val="3750"/>
              </a:lnSpc>
            </a:pPr>
            <a:endParaRPr lang="en-US" spc="40" dirty="0"/>
          </a:p>
          <a:p>
            <a:pPr marL="12700" marR="276860">
              <a:lnSpc>
                <a:spcPts val="3750"/>
              </a:lnSpc>
            </a:pPr>
            <a:r>
              <a:rPr lang="en-US" spc="40" dirty="0"/>
              <a:t>https://api.pheedloop.com/blog/event-data-lab-report-08-attendees-attend-5-5-sessions-and-one-in-four-attend-none?utm_source=chatgpt.com</a:t>
            </a:r>
          </a:p>
          <a:p>
            <a:pPr marL="12700" marR="276860">
              <a:lnSpc>
                <a:spcPts val="3750"/>
              </a:lnSpc>
            </a:pPr>
            <a:endParaRPr spc="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4080" y="3194938"/>
            <a:ext cx="5739765" cy="3682365"/>
          </a:xfrm>
          <a:prstGeom prst="rect">
            <a:avLst/>
          </a:prstGeom>
        </p:spPr>
        <p:txBody>
          <a:bodyPr vert="horz" wrap="square" lIns="0" tIns="321310" rIns="0" bIns="0" rtlCol="0">
            <a:spAutoFit/>
          </a:bodyPr>
          <a:lstStyle/>
          <a:p>
            <a:pPr marL="1155700" marR="5080" indent="-1143635">
              <a:lnSpc>
                <a:spcPts val="13200"/>
              </a:lnSpc>
              <a:spcBef>
                <a:spcPts val="2530"/>
              </a:spcBef>
            </a:pPr>
            <a:r>
              <a:rPr sz="13000" spc="575" dirty="0"/>
              <a:t>THANK </a:t>
            </a:r>
            <a:r>
              <a:rPr sz="13000" spc="265" dirty="0"/>
              <a:t>YOU</a:t>
            </a:r>
            <a:endParaRPr sz="1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522</Words>
  <Application>Microsoft Office PowerPoint</Application>
  <PresentationFormat>Custom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Tahoma</vt:lpstr>
      <vt:lpstr>Trebuchet MS</vt:lpstr>
      <vt:lpstr>Office Theme</vt:lpstr>
      <vt:lpstr>EVENTEASE</vt:lpstr>
      <vt:lpstr>ABSTRACT</vt:lpstr>
      <vt:lpstr>INTRODUCTION</vt:lpstr>
      <vt:lpstr>ALGORITHMS</vt:lpstr>
      <vt:lpstr>METHODOLOGY</vt:lpstr>
      <vt:lpstr>DATASET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Minimalist Professional Project Presentation</dc:title>
  <dc:creator>Rakshitha</dc:creator>
  <cp:keywords>DAHLgIlciTk,BAG4BxSE4BA</cp:keywords>
  <cp:lastModifiedBy>Jangirala Rakshitha</cp:lastModifiedBy>
  <cp:revision>1</cp:revision>
  <dcterms:created xsi:type="dcterms:W3CDTF">2026-09-09T02:51:10Z</dcterms:created>
  <dcterms:modified xsi:type="dcterms:W3CDTF">2026-09-09T02:56:55Z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2026-09-09T00:00:00Z</vt:filetime>
  </property>
  <property fmtid="{D5CDD505-2E9C-101B-9397-08002B2CF9AE}" pid="4" name="Creator">
    <vt:lpwstr>Canva</vt:lpwstr>
  </property>
  <property fmtid="{D5CDD505-2E9C-101B-9397-08002B2CF9AE}" pid="5" name="LastSaved">
    <vt:filetime>2026-09-09T00:00:00Z</vt:filetime>
  </property>
  <property fmtid="{D5CDD505-2E9C-101B-9397-08002B2CF9AE}" pid="6" name="Producer">
    <vt:lpwstr>Canva</vt:lpwstr>
  </property>
</Properties>
</file>